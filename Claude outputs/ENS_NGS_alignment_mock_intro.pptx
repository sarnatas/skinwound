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9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354" r:id="rId11"/>
    <p:sldId id="374" r:id="rId31"/>
    <p:sldId id="377" r:id="rId34"/>
    <p:sldId id="369" r:id="rId26"/>
    <p:sldId id="36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g/PVIhmSUw95/wsB629YHcpr3i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0119"/>
    <a:srgbClr val="00A2A0"/>
    <a:srgbClr val="00A19E"/>
    <a:srgbClr val="C9760B"/>
    <a:srgbClr val="0173C6"/>
    <a:srgbClr val="465465"/>
    <a:srgbClr val="C0403A"/>
    <a:srgbClr val="B32010"/>
    <a:srgbClr val="EF961C"/>
    <a:srgbClr val="9AB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1"/>
    <p:restoredTop sz="94882"/>
  </p:normalViewPr>
  <p:slideViewPr>
    <p:cSldViewPr snapToGrid="0">
      <p:cViewPr varScale="1">
        <p:scale>
          <a:sx n="119" d="100"/>
          <a:sy n="119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7" Type="http://schemas.openxmlformats.org/officeDocument/2006/relationships/slide" Target="slides/slide10.xml"/><Relationship Id="rId26" Type="http://schemas.openxmlformats.org/officeDocument/2006/relationships/slide" Target="slides/slide19.xml"/><Relationship Id="rId31" Type="http://schemas.openxmlformats.org/officeDocument/2006/relationships/slide" Target="slides/slide24.xml"/><Relationship Id="rId34" Type="http://schemas.openxmlformats.org/officeDocument/2006/relationships/slide" Target="slides/slide27.xml"/><Relationship Id="rId47" Type="http://customschemas.google.com/relationships/presentationmetadata" Target="metadata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Very short intro (about 5 minutes) before the mock alignment: what alignment is, then a quick run of spaceranger count on toy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toy FASTQ files contain random sequences against a toy reference: the point is to see the workflow, not to get results. Afterwards we use the real aligned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inputs/outputs of spaceranger count. Real alignment of one sample takes hours and a lot of RAM, so we use toy data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1: 28 bp = 16 bp spot barcode + 12 bp UMI. Read 2: cDNA from the 3' end of the transcript. Only read 2 is aligned to the genome.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Alignment places each read 2 on the genome and assigns it to a gene; barcode and UMI give spot and molecule. Space Ranger wraps STAR and the image processing in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ftr" idx="11"/>
          </p:nvPr>
        </p:nvSpPr>
        <p:spPr>
          <a:xfrm>
            <a:off x="415600" y="642162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40080" y="21488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222222"/>
                </a:solidFill>
                <a:latin typeface="Calibri"/>
              </a:rPr>
              <a:t>Alignment: from reads to 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337560"/>
            <a:ext cx="1097280" cy="54864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5F5F5F"/>
                </a:solidFill>
                <a:latin typeface="Calibri"/>
              </a:rPr>
              <a:t>ENS NGS practical · Visium spatial transcriptomics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  <a:latin typeface="Calibri"/>
              </a:rPr>
              <a:t>Sergio Sarnataro · Data Analysis group, Spatial-Cell-ID · ENS de Lyon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03520"/>
            <a:ext cx="3193281" cy="1097280"/>
          </a:xfrm>
          <a:prstGeom prst="rect">
            <a:avLst/>
          </a:prstGeom>
        </p:spPr>
      </p:pic>
      <p:pic>
        <p:nvPicPr>
          <p:cNvPr id="8" name="Picture 7" descr="image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5440680"/>
            <a:ext cx="2154267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Today: a mock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25295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B7F79"/>
                </a:solidFill>
                <a:latin typeface="Calibri"/>
              </a:rPr>
              <a:t>What we will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73936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Run spaceranger count on tiny toy FASTQ files for our 4 samples (Skin, Wound1, Wound7, Wound30)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Read the command line, the logs and the web_summary.html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Reference already built: we only run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3977639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25295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D40119"/>
                </a:solidFill>
                <a:latin typeface="Calibri"/>
              </a:rPr>
              <a:t>What we will not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73936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Align the real data: too long for a practical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Interpret the toy results: the sequences are random</a:t>
            </a:r>
          </a:p>
          <a:p>
            <a:pPr algn="l" marL="219456" indent="-219456">
              <a:spcAft>
                <a:spcPts val="1400"/>
              </a:spcAft>
              <a:buClr>
                <a:srgbClr val="D40119"/>
              </a:buClr>
              <a:buChar char="•"/>
            </a:pPr>
            <a:r>
              <a:rPr sz="2000" b="0">
                <a:solidFill>
                  <a:srgbClr val="222222"/>
                </a:solidFill>
                <a:latin typeface="Calibri"/>
              </a:rPr>
              <a:t>Build the reference ourselves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0352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Our plan: </a:t>
            </a:r>
            <a:r>
              <a:rPr sz="2000" b="0">
                <a:solidFill>
                  <a:srgbClr val="222222"/>
                </a:solidFill>
                <a:latin typeface="Calibri"/>
              </a:rPr>
              <a:t>run the mock alignment, then ignore its output and start the notebook from the real, already aligned data (GSE241124).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What spaceranger count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FASTQ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Read 1 (spot barcode + UMI) and read 2 (cDNA) for each sample, as delivered by the sequencer.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128016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26187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A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Genome FASTA and gene annotation (GTF), indexed once. For the human genome this takes hours and a lot of RAM.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88620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67911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The tissue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Microscope image of the capture area: used to find the fiducial frame and the spots under tissue.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486400" cy="242316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3886200"/>
            <a:ext cx="502920" cy="502920"/>
          </a:xfrm>
          <a:prstGeom prst="ellips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0" rIns="0" tIns="36576" bIns="36576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867911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40119"/>
                </a:solidFill>
                <a:latin typeface="Calibri"/>
              </a:rPr>
              <a:t>The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Calibri"/>
              </a:rPr>
              <a:t>Count matrix (filtered_feature_bc_matrix.h5), spot positions and the aligned image in spatial/.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Space Ranger documentation, 10x Genomics.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What is in the FASTQ files: Visium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Read 1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828800"/>
            <a:ext cx="1350385" cy="54864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Spot barcode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27825" y="1828800"/>
            <a:ext cx="1012789" cy="54864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7775" y="18288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28 bp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Read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880360"/>
            <a:ext cx="7680319" cy="548640"/>
          </a:xfrm>
          <a:prstGeom prst="rect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cDNA: 3′ end of the 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4919" y="28803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about 90 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Index read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3931920"/>
            <a:ext cx="675192" cy="54864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9792" y="393192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F5F5F"/>
                </a:solidFill>
                <a:latin typeface="Calibri"/>
              </a:rPr>
              <a:t>8 bp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0119"/>
                </a:solidFill>
                <a:latin typeface="Calibri"/>
              </a:rPr>
              <a:t>Spot barcode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spot (position on the slide) did this molecule come from?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8833A"/>
                </a:solidFill>
                <a:latin typeface="Calibri"/>
              </a:rPr>
              <a:t>UMI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original mRNA molecule? Lets us collapse PCR duplicates.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7F79"/>
                </a:solidFill>
                <a:latin typeface="Calibri"/>
              </a:rPr>
              <a:t>cDNA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gene? Mapped to the reference genome.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489204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95604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A5B1"/>
                </a:solidFill>
                <a:latin typeface="Calibri"/>
              </a:rPr>
              <a:t>Sample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349240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Which library? Demultiplexes pooled samples.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Visium layout (16-bp spot barcode + 12-bp UMI). Schematic, not to scale for read 2.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22222"/>
                </a:solidFill>
                <a:latin typeface="Calibri"/>
              </a:rPr>
              <a:t>Alignment: where does each read come from?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822960" cy="45720"/>
          </a:xfrm>
          <a:prstGeom prst="rect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01400" y="6428232"/>
            <a:ext cx="64008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/>
            <a:fld id="{B6F15528-21DE-4FAA-801E-634DDDAF4B2B}" type="slidenum">
              <a:rPr lang="en-US" sz="1100">
                <a:solidFill>
                  <a:srgbClr val="5F5F5F"/>
                </a:solidFill>
                <a:latin typeface="Calibri"/>
              </a:rPr>
              <a:t>‹#›</a:t>
            </a:fld>
          </a:p>
        </p:txBody>
      </p:sp>
      <p:sp>
        <p:nvSpPr>
          <p:cNvPr id="5" name="Pentagon 4"/>
          <p:cNvSpPr/>
          <p:nvPr/>
        </p:nvSpPr>
        <p:spPr>
          <a:xfrm>
            <a:off x="457200" y="1188720"/>
            <a:ext cx="2194560" cy="1143000"/>
          </a:xfrm>
          <a:prstGeom prst="homePlate">
            <a:avLst/>
          </a:prstGeom>
          <a:solidFill>
            <a:srgbClr val="2F4B7C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FASTQ files</a:t>
            </a:r>
          </a:p>
        </p:txBody>
      </p:sp>
      <p:sp>
        <p:nvSpPr>
          <p:cNvPr id="6" name="Pentagon 5"/>
          <p:cNvSpPr/>
          <p:nvPr/>
        </p:nvSpPr>
        <p:spPr>
          <a:xfrm>
            <a:off x="2743200" y="1188720"/>
            <a:ext cx="2194560" cy="1143000"/>
          </a:xfrm>
          <a:prstGeom prst="homePlate">
            <a:avLst/>
          </a:prstGeom>
          <a:solidFill>
            <a:srgbClr val="1B7F7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Barcode and UMI processing</a:t>
            </a:r>
          </a:p>
        </p:txBody>
      </p:sp>
      <p:sp>
        <p:nvSpPr>
          <p:cNvPr id="7" name="Pentagon 6"/>
          <p:cNvSpPr/>
          <p:nvPr/>
        </p:nvSpPr>
        <p:spPr>
          <a:xfrm>
            <a:off x="5029200" y="1188720"/>
            <a:ext cx="2194560" cy="1143000"/>
          </a:xfrm>
          <a:prstGeom prst="homePlate">
            <a:avLst/>
          </a:prstGeom>
          <a:solidFill>
            <a:srgbClr val="E8833A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Alignment to the reference genome</a:t>
            </a:r>
          </a:p>
        </p:txBody>
      </p:sp>
      <p:sp>
        <p:nvSpPr>
          <p:cNvPr id="8" name="Pentagon 7"/>
          <p:cNvSpPr/>
          <p:nvPr/>
        </p:nvSpPr>
        <p:spPr>
          <a:xfrm>
            <a:off x="7315200" y="1188720"/>
            <a:ext cx="2194560" cy="1143000"/>
          </a:xfrm>
          <a:prstGeom prst="homePlate">
            <a:avLst/>
          </a:prstGeom>
          <a:solidFill>
            <a:srgbClr val="8E5EA2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UMI counting per spot and gene</a:t>
            </a:r>
          </a:p>
        </p:txBody>
      </p:sp>
      <p:sp>
        <p:nvSpPr>
          <p:cNvPr id="9" name="Pentagon 8"/>
          <p:cNvSpPr/>
          <p:nvPr/>
        </p:nvSpPr>
        <p:spPr>
          <a:xfrm>
            <a:off x="9601200" y="1188720"/>
            <a:ext cx="2194560" cy="1143000"/>
          </a:xfrm>
          <a:prstGeom prst="homePlate">
            <a:avLst/>
          </a:prstGeom>
          <a:solidFill>
            <a:srgbClr val="D40119"/>
          </a:solidFill>
          <a:ln>
            <a:noFill/>
          </a:ln>
          <a:effectLst/>
        </p:spPr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Tissue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54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D40119"/>
                </a:solidFill>
                <a:latin typeface="Calibri"/>
              </a:rPr>
              <a:t>Why align?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82696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Each R2 read is placed on the reference genome (STAR)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Reads on an exon are assigned to a gene; barcode + UMI give spot and molecule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9748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2549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7F79"/>
                </a:solidFill>
                <a:latin typeface="Calibri"/>
              </a:rPr>
              <a:t>Space Ranger (10x Genomics)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82696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One command, spaceranger count, does all the steps above</a:t>
            </a:r>
          </a:p>
          <a:p>
            <a:pPr algn="l" marL="219456" indent="-219456">
              <a:spcAft>
                <a:spcPts val="1000"/>
              </a:spcAft>
              <a:buClr>
                <a:srgbClr val="D40119"/>
              </a:buClr>
              <a:buChar char="•"/>
            </a:pPr>
            <a:r>
              <a:rPr sz="1900" b="0">
                <a:solidFill>
                  <a:srgbClr val="222222"/>
                </a:solidFill>
                <a:latin typeface="Calibri"/>
              </a:rPr>
              <a:t>The reference is built once beforehand with spaceranger mkref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12080"/>
            <a:ext cx="112014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4011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40119"/>
                </a:solidFill>
                <a:latin typeface="Calibri"/>
              </a:rPr>
              <a:t>Output: </a:t>
            </a:r>
            <a:r>
              <a:rPr sz="2100" b="0">
                <a:solidFill>
                  <a:srgbClr val="222222"/>
                </a:solidFill>
                <a:latin typeface="Calibri"/>
              </a:rPr>
              <a:t>a spots × genes count matrix and the aligned tissue image: the starting point of our notebook.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F5F5F"/>
                </a:solidFill>
                <a:latin typeface="Calibri"/>
              </a:rPr>
              <a:t>Space Ranger documentation, 10x Genomics.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21912</TotalTime>
  <Words>33</Words>
  <Application>Microsoft Macintosh PowerPoint</Application>
  <PresentationFormat>Widescreen</PresentationFormat>
  <Paragraphs>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Sergio Sarnataro</dc:creator>
  <cp:lastModifiedBy>Sergio Sarnataro</cp:lastModifiedBy>
  <cp:revision>28</cp:revision>
  <dcterms:created xsi:type="dcterms:W3CDTF">2025-09-26T13:15:49Z</dcterms:created>
  <dcterms:modified xsi:type="dcterms:W3CDTF">2026-09-29T13:03:54Z</dcterms:modified>
</cp:coreProperties>
</file>