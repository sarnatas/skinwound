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3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354" r:id="rId2"/>
    <p:sldId id="355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99" r:id="rId46"/>
    <p:sldId id="400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/PVIhmSUw95/wsB629YHcpr3i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119"/>
    <a:srgbClr val="00A2A0"/>
    <a:srgbClr val="00A19E"/>
    <a:srgbClr val="C9760B"/>
    <a:srgbClr val="0173C6"/>
    <a:srgbClr val="465465"/>
    <a:srgbClr val="C0403A"/>
    <a:srgbClr val="B32010"/>
    <a:srgbClr val="EF961C"/>
    <a:srgbClr val="9AB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9"/>
    <p:restoredTop sz="94855"/>
  </p:normalViewPr>
  <p:slideViewPr>
    <p:cSldViewPr snapToGrid="0">
      <p:cViewPr>
        <p:scale>
          <a:sx n="179" d="100"/>
          <a:sy n="179" d="100"/>
        </p:scale>
        <p:origin x="65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Keratinocyte</c:v>
                </c:pt>
              </c:strCache>
            </c:strRef>
          </c:tx>
          <c:spPr>
            <a:solidFill>
              <a:srgbClr val="1B7F79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49.7</c:v>
                </c:pt>
                <c:pt idx="1">
                  <c:v>69.3</c:v>
                </c:pt>
                <c:pt idx="2">
                  <c:v>38.200000000000003</c:v>
                </c:pt>
                <c:pt idx="3">
                  <c:v>42.1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3C-9C41-AE3B-AD2B6AAA60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Fibroblast</c:v>
                </c:pt>
              </c:strCache>
            </c:strRef>
          </c:tx>
          <c:spPr>
            <a:solidFill>
              <a:srgbClr val="8E5EA2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7.7</c:v>
                </c:pt>
                <c:pt idx="2">
                  <c:v>30.6</c:v>
                </c:pt>
                <c:pt idx="3">
                  <c:v>35.200000000000003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C3C-9C41-AE3B-AD2B6AAA60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Myeloid</c:v>
                </c:pt>
              </c:strCache>
            </c:strRef>
          </c:tx>
          <c:spPr>
            <a:solidFill>
              <a:srgbClr val="E0A030"/>
            </a:solidFill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2222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11.8</c:v>
                </c:pt>
                <c:pt idx="1">
                  <c:v>7</c:v>
                </c:pt>
                <c:pt idx="2">
                  <c:v>13.5</c:v>
                </c:pt>
                <c:pt idx="3">
                  <c:v>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C3C-9C41-AE3B-AD2B6AAA60D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Lymphoid</c:v>
                </c:pt>
              </c:strCache>
            </c:strRef>
          </c:tx>
          <c:spPr>
            <a:solidFill>
              <a:srgbClr val="5B9BD5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6.3</c:v>
                </c:pt>
                <c:pt idx="1">
                  <c:v>8</c:v>
                </c:pt>
                <c:pt idx="2">
                  <c:v>10.3</c:v>
                </c:pt>
                <c:pt idx="3">
                  <c:v>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C3C-9C41-AE3B-AD2B6AAA60D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8C8C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16.2</c:v>
                </c:pt>
                <c:pt idx="1">
                  <c:v>8</c:v>
                </c:pt>
                <c:pt idx="2">
                  <c:v>7.4</c:v>
                </c:pt>
                <c:pt idx="3">
                  <c:v>12.1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C3C-9C41-AE3B-AD2B6AAA6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Donor PWH27</c:v>
                </c:pt>
              </c:strCache>
            </c:strRef>
          </c:tx>
          <c:spPr>
            <a:solidFill>
              <a:srgbClr val="D40119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21.3</c:v>
                </c:pt>
                <c:pt idx="2">
                  <c:v>9.3000000000000007</c:v>
                </c:pt>
                <c:pt idx="3">
                  <c:v>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D65-D547-844A-ACA7D7254D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3 donors</c:v>
                </c:pt>
              </c:strCache>
            </c:strRef>
          </c:tx>
          <c:spPr>
            <a:solidFill>
              <a:srgbClr val="9AA5B1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21.6</c:v>
                </c:pt>
                <c:pt idx="2">
                  <c:v>9.1</c:v>
                </c:pt>
                <c:pt idx="3">
                  <c:v>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D65-D547-844A-ACA7D7254D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5B1"/>
              </a:solidFill>
            </c:spPr>
            <c:extLst>
              <c:ext xmlns:c16="http://schemas.microsoft.com/office/drawing/2014/chart" uri="{C3380CC4-5D6E-409C-BE32-E72D297353CC}">
                <c16:uniqueId val="{00000001-41FB-7048-91FC-00CE12005D42}"/>
              </c:ext>
            </c:extLst>
          </c:dPt>
          <c:dPt>
            <c:idx val="1"/>
            <c:invertIfNegative val="1"/>
            <c:bubble3D val="0"/>
            <c:spPr>
              <a:solidFill>
                <a:srgbClr val="D40119"/>
              </a:solidFill>
            </c:spPr>
            <c:extLst>
              <c:ext xmlns:c16="http://schemas.microsoft.com/office/drawing/2014/chart" uri="{C3380CC4-5D6E-409C-BE32-E72D297353CC}">
                <c16:uniqueId val="{00000003-41FB-7048-91FC-00CE12005D42}"/>
              </c:ext>
            </c:extLst>
          </c:dPt>
          <c:dPt>
            <c:idx val="2"/>
            <c:invertIfNegative val="1"/>
            <c:bubble3D val="0"/>
            <c:spPr>
              <a:solidFill>
                <a:srgbClr val="E8833A"/>
              </a:solidFill>
            </c:spPr>
            <c:extLst>
              <c:ext xmlns:c16="http://schemas.microsoft.com/office/drawing/2014/chart" uri="{C3380CC4-5D6E-409C-BE32-E72D297353CC}">
                <c16:uniqueId val="{00000005-41FB-7048-91FC-00CE12005D42}"/>
              </c:ext>
            </c:extLst>
          </c:dPt>
          <c:dPt>
            <c:idx val="3"/>
            <c:invertIfNegative val="1"/>
            <c:bubble3D val="0"/>
            <c:spPr>
              <a:solidFill>
                <a:srgbClr val="2F4B7C"/>
              </a:solidFill>
            </c:spPr>
            <c:extLst>
              <c:ext xmlns:c16="http://schemas.microsoft.com/office/drawing/2014/chart" uri="{C3380CC4-5D6E-409C-BE32-E72D297353CC}">
                <c16:uniqueId val="{00000007-41FB-7048-91FC-00CE12005D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Skin</c:v>
                </c:pt>
                <c:pt idx="1">
                  <c:v>Wound1</c:v>
                </c:pt>
                <c:pt idx="2">
                  <c:v>Wound7</c:v>
                </c:pt>
                <c:pt idx="3">
                  <c:v>Wound30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3265</c:v>
                </c:pt>
                <c:pt idx="1">
                  <c:v>6491</c:v>
                </c:pt>
                <c:pt idx="2">
                  <c:v>6518</c:v>
                </c:pt>
                <c:pt idx="3">
                  <c:v>5953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FB-7048-91FC-00CE12005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0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Introductory lecture at the start of day 1. 14 hours in total over two days; this lecture gives the context and the concepts, the rest is hands-on with scanpy.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short (1 minute). Background: theoretical physics, then computational biology and NGS data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slide on the platform. The Data Analysis hub is where this course material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is a proposal: the exact split between days can be adjusted. Every practical uses the same dataset as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LEGO analogy: an organ is a structure of different bricks. Bulk grinds it into a pile, single-cell sorts the bricks, spatial keeps the structure.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Goals on the left, challenges on the right; the challenges are what the analysis workflow is designed to handle. The red bar introduces the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 1 is from my own work. Example 2 anticipates the case study: the migrating keratinocytes are a state, not a new tissue.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 of cells per study grew exponentially in the past decade (top: technologies, bottom: cells per study on a log scale).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lists methods with transcript coverage, UMI availability and strand specificity. Trade-off: depth per cell vs number of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Colour code introduced here (grey, red, orange, navy for Skin, Wound1, Wound7, Wound30) is reused in every chart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in the table come from GSE241132_cell_metadata.txt (58,823 cells). Total matches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 from the metadata of donor PWH27 (22,227 cells). The paper groups clusters into 9 main cell types; the metadata file lists hair follicle as a tenth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Figure 1B (and 1C) from Liu et al. 2025, open access CC BY 4.0. Cite the figure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take-aways. Point 1 and 3 can be reproduced from the data in the practical; 2 and 4 need extra tools or data and are discussed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as described in the STAR Methods. The take-home: every step before the sequencer shapes what you can see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TODO: verify the Ren et al. 2023 reference (could not be confirmed online).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1: 28 bp = 16 bp cell barcode + 12 bp UMI. Read 2: cDNA from the 3' end of the transcript. The old figure showed the v2 layout (26 bp); the paper used v3.1.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coloured chip is a read; chips with the same UMI in the same cell and gene collapse into a single molecule.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FASTQ = text file, 4 lines per read. In single-cell, R1 contains barcode and UMI, R2 the cDNA.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start from the count matrices deposited on GEO, so alignment is not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Sparse storage keeps only the non-zero entries as (gene, cell, value) triplets: that is the MTX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Roadmap for the next slides: one slide per step (two for QC).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 why the mitochondrial threshold is meaningful in dissociated cells. Numbers: raw matrix of 65,462 cells and 27,973 genes; 58,823 cells and 25,778 genes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practical we detect doublets with Scrublet (Python-native).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Median nCount_RNA per time point in PWH27: 19,666 (Skin), 20,713 (Wound1), 14,991 (Wound7), 16,671 (Wound30).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PCA is linear; the neighbour graph is the object everything downstream (Leiden, UMAP, PAGA, Milo)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teaching point of day 1: never correct a variable that is confounded with your biological question. Use the practical to show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points, three resolutions. Ties in with the parameter-sensitivity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Annotation combines statistics and prior knowledge. In the practical, students compare their labels with newMainCellTypes from the GEO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numbers: migrating KC per time point, PWH27: 65/3265, 1385/6491, 604/6518, 505/5953 cells. All donors: 204, 3414, 1486, 879.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extra branches in wound cells: Bas-I to Bas-mig, and Spi-II to Spi-mig. A pseudotime is an ordering, not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demos or discussion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scanpy has four families of functions: input/output, preprocessing, tools and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of X are cells (obs), columns are genes (var).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Decision: practicals use PWH27 only. Keep the full 58,823-cell dataset as context and for the paper's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logic, different tools. Differences are teaching opportunities: SCTransform vs log-normalisation, Louvain vs Leiden.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with the actual server instructions once fixed. Also mention the environment name (skinwound) from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lecture, then move to the first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formats follow the sources used on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ftr" idx="11"/>
          </p:nvPr>
        </p:nvSpPr>
        <p:spPr>
          <a:xfrm>
            <a:off x="415600" y="642162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2146609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488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222222"/>
                </a:solidFill>
                <a:latin typeface="Calibri"/>
              </a:rPr>
              <a:t>Single-Cell RNA-Seq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337560"/>
            <a:ext cx="1097280" cy="54864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5F5F5F"/>
                </a:solidFill>
                <a:latin typeface="Calibri"/>
              </a:rPr>
              <a:t>SupBioTech M2 · Paris · October 18–19,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222222"/>
                </a:solidFill>
                <a:latin typeface="Calibri"/>
              </a:rPr>
              <a:t>Sergio Sarnataro</a:t>
            </a:r>
            <a:r>
              <a:rPr lang="it-IT" sz="2000" b="1" dirty="0">
                <a:solidFill>
                  <a:srgbClr val="222222"/>
                </a:solidFill>
                <a:latin typeface="Calibri"/>
              </a:rPr>
              <a:t>, PhD</a:t>
            </a:r>
            <a:r>
              <a:rPr sz="2000" b="1" dirty="0">
                <a:solidFill>
                  <a:srgbClr val="222222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· </a:t>
            </a:r>
            <a:r>
              <a:rPr lang="it-IT" sz="2000" b="0" dirty="0">
                <a:solidFill>
                  <a:srgbClr val="222222"/>
                </a:solidFill>
                <a:latin typeface="Calibri"/>
              </a:rPr>
              <a:t>Head of the 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Data Analysis group, Spatial-Cell-ID · ENS de Lyon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03520"/>
            <a:ext cx="3193281" cy="1097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1F850-6735-6A88-7D95-4D22F8528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59" y="5023552"/>
            <a:ext cx="1657216" cy="1657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Who am 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761488"/>
            <a:ext cx="11064240" cy="36576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8872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3154680"/>
            <a:ext cx="132588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09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MSc in Theoretical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University of Naples (Italy)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2016–20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223260"/>
            <a:ext cx="237744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560" y="4709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PhD in Computational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577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IGBMC Strasbourg (France)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2020–22</a:t>
            </a:r>
          </a:p>
        </p:txBody>
      </p:sp>
      <p:sp>
        <p:nvSpPr>
          <p:cNvPr id="17" name="Oval 16"/>
          <p:cNvSpPr/>
          <p:nvPr/>
        </p:nvSpPr>
        <p:spPr>
          <a:xfrm>
            <a:off x="745236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773" y="3154680"/>
            <a:ext cx="1866053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72200" y="4709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NGS Data Scientist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TIGEM Naples (Italy)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6002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2022–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2670048"/>
            <a:ext cx="201168" cy="201168"/>
          </a:xfrm>
          <a:prstGeom prst="ellips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3409150"/>
            <a:ext cx="2377440" cy="81693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06840" y="4709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Research Engineer in Bioinformatics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5577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0" i="1">
                <a:solidFill>
                  <a:srgbClr val="5F5F5F"/>
                </a:solidFill>
                <a:latin typeface="Calibri"/>
              </a:rPr>
              <a:t>ENS de Lyon (France)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Data Analysis hub at Spatial-Cell-ID (ENS de Lyon)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0" y="1051560"/>
            <a:ext cx="74066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New national spatial transcriptomics and single-cell RNA-Seq facility led by the École Normale Supérieure de Lyon.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Goal: </a:t>
            </a:r>
            <a:r>
              <a:rPr sz="1800" b="0">
                <a:solidFill>
                  <a:srgbClr val="222222"/>
                </a:solidFill>
                <a:latin typeface="Calibri"/>
              </a:rPr>
              <a:t>studying cellular identity and its spatial heterogeneity, through very recent developments in spatial transcriptomics.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63" y="3154680"/>
            <a:ext cx="2130433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4406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SLIDE-SEQ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422732"/>
            <a:ext cx="2194560" cy="15670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54406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MERFISH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23538"/>
            <a:ext cx="2194560" cy="13654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4406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SC-RNASEQ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3017520"/>
            <a:ext cx="2468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3212060"/>
            <a:ext cx="2194560" cy="19883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81160" y="54406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DATA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15EADD-B727-9EC4-C300-8AA4EC838D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79" y="857384"/>
            <a:ext cx="1657216" cy="1657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course: 14 hours over two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This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Concepts and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Why single-cell?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Our case study: human skin wound healing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From tissue to count matrix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analysis workflow, step by step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Tools and set-up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25112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1 · Practical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116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counts to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603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Loading 10x matrices and quality control</a:t>
            </a:r>
          </a:p>
          <a:p>
            <a:pPr marL="219456" indent="-219456" algn="l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Filtering, normalisation, highly variable genes</a:t>
            </a:r>
          </a:p>
          <a:p>
            <a:pPr marL="219456" indent="-219456" algn="l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PCA, neighbours, UMAP, Leiden clustering</a:t>
            </a:r>
          </a:p>
          <a:p>
            <a:pPr marL="219456" indent="-219456" algn="l">
              <a:spcAft>
                <a:spcPts val="1200"/>
              </a:spcAft>
              <a:buClr>
                <a:srgbClr val="E8833A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Batch effects and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09728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47304" y="1097280"/>
            <a:ext cx="3611880" cy="77724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Day 2 · Practical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116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5F5F5F"/>
                </a:solidFill>
                <a:latin typeface="Calibri"/>
              </a:rPr>
              <a:t>From clusters to biology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56032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Marker genes and cell-type annotation</a:t>
            </a:r>
          </a:p>
          <a:p>
            <a:pPr marL="219456" indent="-219456" algn="l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Comparing with the authors' annotation</a:t>
            </a:r>
          </a:p>
          <a:p>
            <a:pPr marL="219456" indent="-219456" algn="l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Differences across Skin, Wound1, Wound7, Wound30</a:t>
            </a:r>
          </a:p>
          <a:p>
            <a:pPr marL="219456" indent="-219456" algn="l">
              <a:spcAft>
                <a:spcPts val="1200"/>
              </a:spcAft>
              <a:buClr>
                <a:srgbClr val="2F4B7C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Trajectories of keratinocytes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Why single-cell RNA-seq?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From bulk averages to the identity of every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5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Adding new dimensions to transcriptomics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6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Original organ</a:t>
            </a:r>
          </a:p>
        </p:txBody>
      </p:sp>
      <p:pic>
        <p:nvPicPr>
          <p:cNvPr id="6" name="Picture 5" descr="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7750"/>
            <a:ext cx="2606040" cy="2490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519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Many cell types, organised in space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639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143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Bulk RNA-seq</a:t>
            </a:r>
          </a:p>
        </p:txBody>
      </p:sp>
      <p:pic>
        <p:nvPicPr>
          <p:cNvPr id="10" name="Picture 9" descr="image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00200"/>
            <a:ext cx="260604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42519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Everything is mixed: one averaged profile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6247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43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Single-cell RNA-seq</a:t>
            </a:r>
          </a:p>
        </p:txBody>
      </p:sp>
      <p:pic>
        <p:nvPicPr>
          <p:cNvPr id="14" name="Picture 13" descr="image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789141"/>
            <a:ext cx="2606040" cy="2228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60" y="42519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Cells are separated: one profile per cell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88552" y="2651760"/>
            <a:ext cx="237744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143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Spatial transcriptomics</a:t>
            </a:r>
          </a:p>
        </p:txBody>
      </p:sp>
      <p:pic>
        <p:nvPicPr>
          <p:cNvPr id="18" name="Picture 17" descr="image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700089"/>
            <a:ext cx="2606040" cy="24062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35440" y="42519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Cell types and where they 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57800"/>
            <a:ext cx="11292840" cy="9601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1800" b="0">
                <a:solidFill>
                  <a:srgbClr val="222222"/>
                </a:solidFill>
                <a:latin typeface="Calibri"/>
              </a:rPr>
              <a:t>an average can hide the story. A change in bulk expression can mean fewer cells, more cells, or a different cell state, and bulk cannot tell them apart.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single-cell resolution gives us, and 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7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25295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Explore which cell types are present in a tissue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Identify unknown or rare cell types and states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Find genes differentially expressed in a particular cell type, or even in a subpopulation of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25295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73936"/>
            <a:ext cx="512064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Large volume of data: tens of thousands of cells × tens of thousands of genes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Low sequencing depth per cell: most measurements are zero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Biological and technical variability across cells and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Our question: </a:t>
            </a:r>
            <a:r>
              <a:rPr sz="2000" b="0">
                <a:solidFill>
                  <a:srgbClr val="222222"/>
                </a:solidFill>
                <a:latin typeface="Calibri"/>
              </a:rPr>
              <a:t>which cells enter a human skin wound, when, and what do they express as healing proceeds?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Application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8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9108"/>
            <a:ext cx="6035040" cy="46569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09728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225295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Example 1 · A cancer of unknown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48255"/>
            <a:ext cx="4572000" cy="13715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Subpopulations of cells migrating from the primary tumour to the metastasis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703320"/>
            <a:ext cx="493776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3831335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Example 2 · Our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654295"/>
            <a:ext cx="4572000" cy="13715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Clustering reveals states such as migrating keratinocytes at the wound edge, which a bulk average cannot 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Aldridge &amp; Teichmann, Nat Commun 11:4307 (2020). Wound-healing example: Liu et al., Cell Stem Cell 32:479 (2025).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Single-cell technologies scale exponentially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9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5" name="Picture 4" descr="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90" y="1143000"/>
            <a:ext cx="10730938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Svensson, Vento-Tormo &amp; Teichmann, Nat Protoc 13:599–604 (2018).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Many protocols, one focus: droplets and 3′ tags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10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5" name="Picture 4" descr="imag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779978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577840" y="109728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0" y="1225295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Plate-based, full-length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82495"/>
            <a:ext cx="57607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Smart-seq2 and relatives: deep coverage of each transcript, but few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788920"/>
            <a:ext cx="6126480" cy="1554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2916936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Droplet-based, 3′-tag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374136"/>
            <a:ext cx="57607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Drop-seq, Chromium: thousands of cells, UMIs, shallow depth per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526280"/>
            <a:ext cx="61264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4526280"/>
            <a:ext cx="5577840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Our focus: </a:t>
            </a:r>
            <a:r>
              <a:rPr sz="2200" b="0">
                <a:solidFill>
                  <a:srgbClr val="222222"/>
                </a:solidFill>
                <a:latin typeface="Calibri"/>
              </a:rPr>
              <a:t>10x Genomics Chromium 3′, the technology used in our case study.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Table: Chen, Ning &amp; Shi, Front Genet 10:317 (2019).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Our case study: human skin wound 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The paper, the biology and the data behind the practicals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11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Wound healing: three overlapping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12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9AA5B1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Skin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0 · Intact skin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Baseline epidermis and dermis</a:t>
            </a:r>
          </a:p>
          <a:p>
            <a:pPr marL="219456" indent="-219456" algn="l">
              <a:spcAft>
                <a:spcPts val="1000"/>
              </a:spcAft>
              <a:buClr>
                <a:srgbClr val="9AA5B1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The reference for every comparison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7296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Wound1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1 · Inflammation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Neutrophils and pro-inflammatory macrophages arrive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Keratinocytes at the wound edge start to migrate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5332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Wound7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7 · Proliferation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Proliferating keratinocytes and fibroblasts</a:t>
            </a:r>
          </a:p>
          <a:p>
            <a:pPr marL="219456" indent="-219456" algn="l">
              <a:spcAft>
                <a:spcPts val="1000"/>
              </a:spcAft>
              <a:buClr>
                <a:srgbClr val="E8833A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Re-epithelialisation, granulation tissue, new capillaries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33688" y="1417320"/>
            <a:ext cx="164592" cy="36576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Wound30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Day 30 · Remodelling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94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59" y="233172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Mesenchymal fibroblasts dominate the wound bed</a:t>
            </a:r>
          </a:p>
          <a:p>
            <a:pPr marL="219456" indent="-219456" algn="l">
              <a:spcAft>
                <a:spcPts val="1000"/>
              </a:spcAft>
              <a:buClr>
                <a:srgbClr val="2F4B7C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Extracellular matrix remodelling and scar 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112928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Why it matters: </a:t>
            </a:r>
            <a:r>
              <a:rPr sz="2000" b="0">
                <a:solidFill>
                  <a:srgbClr val="222222"/>
                </a:solidFill>
                <a:latin typeface="Calibri"/>
              </a:rPr>
              <a:t>failed re-epithelialisation is a hallmark of chronic wounds such as venous ulcers and diabetic foot ulcers, which affect millions of people every year.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Study design: the same individuals, four time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13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120640" cy="502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Healthy volunteers: 4-mm full-thickness wounds on the upper buttock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6-mm biopsies of the wound edge at day 1, 7 and 30, plus intact skin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Each donor is their own control over time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scRNA-seq: 3 donors × 4 time points = 12 samples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Chromium Next GEM 3′ v3.1, Illumina NovaSeq 6000, about 50,000 read pairs per cell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Data: GEO accession GSE241132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234440"/>
          <a:ext cx="5760717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Wound1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Wound7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Wound30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PWH26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4,242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4,709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4,483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3,408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16,842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PWH27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3,265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6,491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6,518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5,953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22,227</a:t>
                      </a:r>
                    </a:p>
                  </a:txBody>
                  <a:tcPr marT="36576" marB="36576" anchor="ctr"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PWH28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4,083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4,578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5,358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5,735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19,754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11,590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15,778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16,359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15,096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58,823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20624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Highlighted: </a:t>
            </a:r>
            <a:r>
              <a:rPr sz="1700" b="0">
                <a:solidFill>
                  <a:srgbClr val="222222"/>
                </a:solidFill>
                <a:latin typeface="Calibri"/>
              </a:rPr>
              <a:t>PWH27, the donor we analyse in the practicals (22,227 cells).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12064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 parallel Visium spatial dataset exists for the same study, but it is not part of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 2025 (STAR Methods). Cell counts computed from the GSE241132 cell metadata (cells retained by the authors).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is in the data? Composition changes with healing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14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161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cells after QC and doublet removal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samples: 3 donors × 4 time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434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41655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0119"/>
                </a:solidFill>
                <a:latin typeface="Calibri"/>
              </a:rPr>
              <a:t>27 →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8464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5F5F"/>
                </a:solidFill>
                <a:latin typeface="Calibri"/>
              </a:rPr>
              <a:t>clusters grouped into main cell types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389120" y="1188720"/>
          <a:ext cx="74066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0" y="5669280"/>
            <a:ext cx="740664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F5F"/>
                </a:solidFill>
                <a:latin typeface="Calibri"/>
              </a:rPr>
              <a:t>Donor PWH27, authors' annotation. Keratinocytes rise to 69% at Wound1; fibroblasts grow to 35% by Wound30. 'Other': endothelial, hair follicle, mast, melanocyte, pericyte/smooth muscle, Schwann.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cell metadata (columns Condition, newMainCellTypes); clusters and main types from Liu et al.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roadmap: a UMAP of 58,823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15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12480" y="1097280"/>
            <a:ext cx="3291840" cy="5029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59" y="1225295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How to 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1682495"/>
            <a:ext cx="2926080" cy="434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 dirty="0">
                <a:solidFill>
                  <a:srgbClr val="222222"/>
                </a:solidFill>
                <a:latin typeface="Calibri"/>
              </a:rPr>
              <a:t>Each dot is one cell</a:t>
            </a:r>
          </a:p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 dirty="0">
                <a:solidFill>
                  <a:srgbClr val="222222"/>
                </a:solidFill>
                <a:latin typeface="Calibri"/>
              </a:rPr>
              <a:t>Nearby cells have similar expression</a:t>
            </a:r>
          </a:p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 dirty="0">
                <a:solidFill>
                  <a:srgbClr val="222222"/>
                </a:solidFill>
                <a:latin typeface="Calibri"/>
              </a:rPr>
              <a:t>27 clusters,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coloured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by 9 main cell types</a:t>
            </a:r>
          </a:p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600" b="0" dirty="0">
                <a:solidFill>
                  <a:srgbClr val="222222"/>
                </a:solidFill>
                <a:latin typeface="Calibri"/>
              </a:rPr>
              <a:t>Keratinocytes and fibroblasts are the largest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 dirty="0">
                <a:solidFill>
                  <a:srgbClr val="5F5F5F"/>
                </a:solidFill>
                <a:latin typeface="Calibri"/>
              </a:rPr>
              <a:t>Figure: Liu et al., Cell Stem Cell 32:479–498 (2025), CC BY 4.0.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788E37-3E01-4E74-11ED-34D5C429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8"/>
          <a:stretch>
            <a:fillRect/>
          </a:stretch>
        </p:blipFill>
        <p:spPr>
          <a:xfrm>
            <a:off x="457201" y="1097280"/>
            <a:ext cx="5836024" cy="49841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the paper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16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Migrating keratinocytes at the wound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Basal and spinous migrating clusters (Bas-mig, Spi-mig) peak at Wound1. They express KRT6A, MMPs, HBEGF; FOSL1 emerges as a key driver of migration.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26187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A relay race between cell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Pro-inflammatory macrophages (CXCL1, EREG) support migration in the inflammatory phase; proliferating fibroblasts (HGF, FGF2, TGFB1) take over at day 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67911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Fibroblast states shift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Proliferating fibroblasts appear at Wound7; mesenchymal fibroblasts (POSTN+) dominate the wound bed at Wound30.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67911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Chronic wounds fail differently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Venous and diabetic foot ulcers lack migrating keratinocytes and show weaker inflammatory responses than acute wounds.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In the practical we look for these populations ourselves.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From tissue to count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Dissociation, droplets, reads and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17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Tissue dissociation: the first source of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18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6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874519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Dispase II, 4 °C overnight: separate epidermis from dermis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852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83080"/>
            <a:ext cx="1874519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Epidermis: trypsin/EDTA. Dermis: whole-skin dissociation kit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38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783080"/>
            <a:ext cx="1874519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Mix equal amounts of epidermal and dermal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24927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83080"/>
            <a:ext cx="1874519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Remove red blood cells and dead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143000"/>
            <a:ext cx="2148840" cy="2148840"/>
          </a:xfrm>
          <a:prstGeom prst="roundRect">
            <a:avLst>
              <a:gd name="adj" fmla="val 8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710928" y="12527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1783080"/>
            <a:ext cx="1874519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Load on the Chromium 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Cell types do not survive dissociation equally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composition of the data is not the composition of the tissue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An example from the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Neutrophils have low RNA content and high RNase levels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standard pipeline missed them; the authors recovered them from the unfiltered matrices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10x Genomics Chromium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19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399471" cy="52120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0" y="1097280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515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Droplets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35607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Single cells, barcoded gel beads and oil form Gel Beads-in-Emulsion (GEMs); each GEM carries a unique cell barcode.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395727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5000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Barcoded cDNA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34056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Inside each GEM the cell is lysed and mRNA is reverse-transcribed; every cDNA gets the cell barcode and a UMI.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3694176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48456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Amplification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32504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GEMs are broken, cDNA is pooled and amplified by PCR.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4992624"/>
            <a:ext cx="548640" cy="54864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946904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Sequencing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30952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Libraries are prepared and sequenced on Illumina platforms.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Figure: Ren et al., Sci Data (2023), as cited in the 2025 lecture: reference to be verified.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Structure of the sequencing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20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828800"/>
            <a:ext cx="1350385" cy="5486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Cell barcode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7825" y="1828800"/>
            <a:ext cx="1012789" cy="5486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7775" y="18288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28 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880360"/>
            <a:ext cx="7680319" cy="54864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cDNA: 3′ end of the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4919" y="28803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about 90 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Index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31920"/>
            <a:ext cx="675192" cy="54864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9792" y="39319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8 bp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Cell barcode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cell (droplet) did this molecule come from?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49560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833A"/>
                </a:solidFill>
                <a:latin typeface="Calibri"/>
              </a:rPr>
              <a:t>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4924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original mRNA molecule? Lets us collapse PCR duplicates.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49560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cDNA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34924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gene? Mapped to the reference genome.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49560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Sample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4924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library? Demultiplexes pooled samples.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Chromium Next GEM 3′ v3.1 layout (16-bp barcode + 12-bp UMI). Schematic, not to scale for read 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Why UMIs matter: counting molecules, not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21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ACTB · cell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28016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AGTTGTA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10312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ACTTGTG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ARL1 · cell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697480"/>
            <a:ext cx="1234440" cy="457200"/>
          </a:xfrm>
          <a:prstGeom prst="roundRect">
            <a:avLst>
              <a:gd name="adj" fmla="val 15000"/>
            </a:avLst>
          </a:prstGeom>
          <a:solidFill>
            <a:srgbClr val="8E5EA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urier New"/>
              </a:rPr>
              <a:t>TTCGTCT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28016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3 reads → 1 molecule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0312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4 reads → 2 molecules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2344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count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03120"/>
            <a:ext cx="210312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833A"/>
                </a:solidFill>
                <a:latin typeface="Calibri"/>
              </a:rPr>
              <a:t>count =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9417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Without UMIs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51376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PCR amplifies molecules unevenly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 counts reflect amplification bias as much as expression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661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69417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With UMIs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51376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Reads with the same barcode, UMI and gene are one molecule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count matrix holds UMI counts per cell and gene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Schematic; UMI sequences are illustrative.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Output of sequencing: FASTQ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22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035040" cy="201168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669279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9CDCFE"/>
                </a:solidFill>
                <a:latin typeface="Courier New"/>
              </a:rPr>
              <a:t>@SRR1234567.1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CE9178"/>
                </a:solidFill>
                <a:latin typeface="Courier New"/>
              </a:rPr>
              <a:t>ACGTACGTACGTACGTACGTACGTACGTACGT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D4D4D4"/>
                </a:solidFill>
                <a:latin typeface="Courier New"/>
              </a:rPr>
              <a:t>+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B5CEA8"/>
                </a:solidFill>
                <a:latin typeface="Courier New"/>
              </a:rPr>
              <a:t>!''*((((***+))%%%++)(%%%%).1***-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4300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1  </a:t>
            </a:r>
            <a:r>
              <a:rPr sz="1900" b="0">
                <a:solidFill>
                  <a:srgbClr val="222222"/>
                </a:solidFill>
                <a:latin typeface="Calibri"/>
              </a:rPr>
              <a:t>read identifier, starts with @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2  </a:t>
            </a:r>
            <a:r>
              <a:rPr sz="1900" b="0">
                <a:solidFill>
                  <a:srgbClr val="222222"/>
                </a:solidFill>
                <a:latin typeface="Calibri"/>
              </a:rPr>
              <a:t>nucleotide sequence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3  </a:t>
            </a:r>
            <a:r>
              <a:rPr sz="1900" b="0">
                <a:solidFill>
                  <a:srgbClr val="222222"/>
                </a:solidFill>
                <a:latin typeface="Calibri"/>
              </a:rPr>
              <a:t>separator, starts with +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9A6700"/>
                </a:solidFill>
                <a:latin typeface="Calibri"/>
              </a:rPr>
              <a:t>Line 4  </a:t>
            </a:r>
            <a:r>
              <a:rPr sz="1900" b="0">
                <a:solidFill>
                  <a:srgbClr val="222222"/>
                </a:solidFill>
                <a:latin typeface="Calibri"/>
              </a:rPr>
              <a:t>quality scores, one ASCII character per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11201400" cy="2651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40119"/>
                </a:solidFill>
                <a:latin typeface="Calibri"/>
              </a:rPr>
              <a:t>Phred quality score:   Q = −10 · log₁₀(P)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P is the probability that the base call is wrong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30: 1 error in 1,000 calls (99.9% accuracy)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200" b="0">
                <a:solidFill>
                  <a:srgbClr val="222222"/>
                </a:solidFill>
                <a:latin typeface="Calibri"/>
              </a:rPr>
              <a:t>Q = 20: 1 error in 100 calls (99% accuracy)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From reads to a count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23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457200" y="1188720"/>
            <a:ext cx="2194560" cy="11430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FASTQ files</a:t>
            </a:r>
          </a:p>
        </p:txBody>
      </p:sp>
      <p:sp>
        <p:nvSpPr>
          <p:cNvPr id="6" name="Pentagon 5"/>
          <p:cNvSpPr/>
          <p:nvPr/>
        </p:nvSpPr>
        <p:spPr>
          <a:xfrm>
            <a:off x="2743200" y="1188720"/>
            <a:ext cx="2194560" cy="1143000"/>
          </a:xfrm>
          <a:prstGeom prst="homePlate">
            <a:avLst/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Barcode and UMI processing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0" y="1188720"/>
            <a:ext cx="2194560" cy="1143000"/>
          </a:xfrm>
          <a:prstGeom prst="homePlate">
            <a:avLst/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Alignment to the reference genome</a:t>
            </a:r>
          </a:p>
        </p:txBody>
      </p:sp>
      <p:sp>
        <p:nvSpPr>
          <p:cNvPr id="8" name="Pentagon 7"/>
          <p:cNvSpPr/>
          <p:nvPr/>
        </p:nvSpPr>
        <p:spPr>
          <a:xfrm>
            <a:off x="7315200" y="1188720"/>
            <a:ext cx="2194560" cy="1143000"/>
          </a:xfrm>
          <a:prstGeom prst="homePlate">
            <a:avLst/>
          </a:prstGeom>
          <a:solidFill>
            <a:srgbClr val="8E5EA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UMI counting per cell and gene</a:t>
            </a:r>
          </a:p>
        </p:txBody>
      </p:sp>
      <p:sp>
        <p:nvSpPr>
          <p:cNvPr id="9" name="Pentagon 8"/>
          <p:cNvSpPr/>
          <p:nvPr/>
        </p:nvSpPr>
        <p:spPr>
          <a:xfrm>
            <a:off x="9601200" y="1188720"/>
            <a:ext cx="2194560" cy="11430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Cell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8254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CellRanger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10x Genomics, commercial and widely used, very simple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Used in the paper: v5.0.1, GRCh38 with GENCODE v38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Open-source alternatives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82696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STARsolo, alevin-fry, kallisto | bustools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Recommended when you want full control or reproducibility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1208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Output: </a:t>
            </a:r>
            <a:r>
              <a:rPr sz="2100" b="0">
                <a:solidFill>
                  <a:srgbClr val="222222"/>
                </a:solidFill>
                <a:latin typeface="Calibri"/>
              </a:rPr>
              <a:t>BAM files and a cells × genes count matrix. In the paper, 65,462 cells and 27,973 genes before filtering.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count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24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548639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/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1</a:t>
                      </a:r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2</a:t>
                      </a:r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3</a:t>
                      </a:r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4</a:t>
                      </a:r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Cell 5</a:t>
                      </a:r>
                    </a:p>
                  </a:txBody>
                  <a:tcPr marT="36576" marB="36576" anchor="ctr">
                    <a:solidFill>
                      <a:srgbClr val="2F4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A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B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C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Calibri"/>
                        </a:rPr>
                        <a:t>Gene E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6344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Rows</a:t>
            </a:r>
            <a:r>
              <a:rPr sz="2000" b="0">
                <a:solidFill>
                  <a:srgbClr val="222222"/>
                </a:solidFill>
                <a:latin typeface="Calibri"/>
              </a:rPr>
              <a:t> = genes (features)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1">
                <a:solidFill>
                  <a:srgbClr val="D40119"/>
                </a:solidFill>
                <a:latin typeface="Calibri"/>
              </a:rPr>
              <a:t>Columns</a:t>
            </a:r>
            <a:r>
              <a:rPr sz="2000" b="0">
                <a:solidFill>
                  <a:srgbClr val="222222"/>
                </a:solidFill>
                <a:latin typeface="Calibri"/>
              </a:rPr>
              <a:t> = cells (barcodes)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Most entries are zero: the matrix is stored as sparse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9728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225295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MTX triplet (what GEO gives 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82495"/>
            <a:ext cx="5074920" cy="11887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matrix.mtx.gz, barcodes.tsv.gz, features.tsv.gz per sample</a:t>
            </a:r>
          </a:p>
          <a:p>
            <a:pPr marL="219456" indent="-219456" algn="l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e.g. PWH27D0_matrix.mtx.gz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0896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23697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7F79"/>
                </a:solidFill>
                <a:latin typeface="Calibri"/>
              </a:rPr>
              <a:t>HDF5 (.h5, .h5ad)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694176"/>
            <a:ext cx="5074920" cy="8229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One file, hierarchical, compact and fast to 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548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4882896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AA5B1"/>
                </a:solidFill>
                <a:latin typeface="Calibri"/>
              </a:rPr>
              <a:t>CSV / TSV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340096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Simple, but dense: unusable for large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Toy matrix for illustration. Files from GEO accession GSE241132.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The 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One concept per step, and the choice the paper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25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Overview: from counts to biology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26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45720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genes, UMIs, % mito, doublets</a:t>
            </a:r>
          </a:p>
        </p:txBody>
      </p:sp>
      <p:sp>
        <p:nvSpPr>
          <p:cNvPr id="7" name="Pentagon 6"/>
          <p:cNvSpPr/>
          <p:nvPr/>
        </p:nvSpPr>
        <p:spPr>
          <a:xfrm>
            <a:off x="237744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scaling, log, variable genes</a:t>
            </a:r>
          </a:p>
        </p:txBody>
      </p:sp>
      <p:sp>
        <p:nvSpPr>
          <p:cNvPr id="9" name="Pentagon 8"/>
          <p:cNvSpPr/>
          <p:nvPr/>
        </p:nvSpPr>
        <p:spPr>
          <a:xfrm>
            <a:off x="429768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PCA and batch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denoise, align samples</a:t>
            </a:r>
          </a:p>
        </p:txBody>
      </p:sp>
      <p:sp>
        <p:nvSpPr>
          <p:cNvPr id="11" name="Pentagon 10"/>
          <p:cNvSpPr/>
          <p:nvPr/>
        </p:nvSpPr>
        <p:spPr>
          <a:xfrm>
            <a:off x="6217920" y="1828800"/>
            <a:ext cx="1874519" cy="13716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Graph, clusters, UMAP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Leiden, embedding</a:t>
            </a:r>
          </a:p>
        </p:txBody>
      </p:sp>
      <p:sp>
        <p:nvSpPr>
          <p:cNvPr id="13" name="Pentagon 12"/>
          <p:cNvSpPr/>
          <p:nvPr/>
        </p:nvSpPr>
        <p:spPr>
          <a:xfrm>
            <a:off x="813816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Markers and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what is each cluster?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0058400" y="1828800"/>
            <a:ext cx="1874519" cy="13716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Downstream analyses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3375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F5F5F"/>
                </a:solidFill>
                <a:latin typeface="Calibri"/>
              </a:rPr>
              <a:t>abundance, trajectories, 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26280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5262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11292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5F5F5F"/>
                </a:solidFill>
                <a:latin typeface="Calibri"/>
              </a:rPr>
              <a:t>Every step involves a choice. For each one we will see what the paper did and what we do in the practical.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Quality control: keep cells that are real, single and alive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27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234439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07007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Genes per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45919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empty droplet or dying cell. Very high: possible doublet.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0720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UMI counts per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Low: little RNA captured, unreliable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6309360" cy="14630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0740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% mitochondrial 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High: stressed or dying cell that lost cytoplasmic RNA.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097280"/>
            <a:ext cx="461772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11887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paper's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69164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500 genes: removed</a:t>
            </a:r>
          </a:p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&lt; 1,000 UMIs: removed</a:t>
            </a:r>
          </a:p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&gt; 20% mitochondrial: removed</a:t>
            </a:r>
          </a:p>
          <a:p>
            <a:pPr marL="219456" indent="-219456" algn="l">
              <a:spcAft>
                <a:spcPts val="5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Mitochondrial and haemoglobin genes removed; genes seen in &lt; 10 cells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862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Calibri"/>
              </a:rPr>
              <a:t>65,462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262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cells before QC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8620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0119"/>
                </a:solidFill>
                <a:latin typeface="Calibri"/>
              </a:rPr>
              <a:t>58,823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5262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5F5F"/>
                </a:solidFill>
                <a:latin typeface="Calibri"/>
              </a:rPr>
              <a:t>after QC and doublets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201400" cy="4114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5F5F"/>
                </a:solidFill>
                <a:latin typeface="Calibri"/>
              </a:rPr>
              <a:t>Thresholds depend on the dataset and the tissue: always look at the distributions before deciding.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(2025), STAR Methods.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Doublets: two cells, one barcode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28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9AA5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Empty droplet</a:t>
            </a:r>
          </a:p>
        </p:txBody>
      </p:sp>
      <p:sp>
        <p:nvSpPr>
          <p:cNvPr id="7" name="Oval 6"/>
          <p:cNvSpPr/>
          <p:nvPr/>
        </p:nvSpPr>
        <p:spPr>
          <a:xfrm>
            <a:off x="278892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1B7F7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1470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Single cell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234440"/>
            <a:ext cx="1737360" cy="1737360"/>
          </a:xfrm>
          <a:prstGeom prst="ellipse">
            <a:avLst/>
          </a:prstGeom>
          <a:solidFill>
            <a:srgbClr val="FAFAFA"/>
          </a:solidFill>
          <a:ln w="3810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20640" y="1737360"/>
            <a:ext cx="685800" cy="685800"/>
          </a:xfrm>
          <a:prstGeom prst="ellips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86400" y="1737360"/>
            <a:ext cx="685800" cy="685800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Doublet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097280"/>
            <a:ext cx="5029200" cy="251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225295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Scrublet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82495"/>
            <a:ext cx="4663440" cy="18287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Simulates doublets by averaging random pairs of cells</a:t>
            </a:r>
          </a:p>
          <a:p>
            <a:pPr marL="219456" indent="-219456" algn="l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Scores each cell by how many simulated doublets are among its neighbours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749039"/>
            <a:ext cx="50292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877055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In the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34255"/>
            <a:ext cx="4663440" cy="173735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Scrublet and DoubletFinder</a:t>
            </a:r>
          </a:p>
          <a:p>
            <a:pPr marL="219456" indent="-219456" algn="l">
              <a:spcAft>
                <a:spcPts val="600"/>
              </a:spcAft>
              <a:buClr>
                <a:srgbClr val="D40119"/>
              </a:buClr>
              <a:buChar char="•"/>
            </a:pPr>
            <a:r>
              <a:rPr sz="1600" b="0">
                <a:solidFill>
                  <a:srgbClr val="222222"/>
                </a:solidFill>
                <a:latin typeface="Calibri"/>
              </a:rPr>
              <a:t>Removed cells called by both tools, or in clusters with mixed markers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8521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 doublet looks like an odd hybrid cell: it can create fake intermediate populations.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Expected rate grows with the number of cells loaded.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Other artefacts to keep in mind: ambient RNA and dead-cell debris.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Wolock et al., Cell Syst 8:281 (2019); McGinnis et al., Cell Syst 8:329 (2019); Liu et al. 2025.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Normalisation and variable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29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1201400" cy="11887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problem: </a:t>
            </a:r>
            <a:r>
              <a:rPr sz="2000" b="0">
                <a:solidFill>
                  <a:srgbClr val="222222"/>
                </a:solidFill>
                <a:latin typeface="Calibri"/>
              </a:rPr>
              <a:t>cells differ in sequencing depth. In donor PWH27 the median is 15,000 to 21,000 UMIs per cell, and individual cells vary far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64261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Log-normalisation (practical)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9816"/>
            <a:ext cx="512064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Scale each cell to the same total, then take the log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1">
                <a:solidFill>
                  <a:srgbClr val="D40119"/>
                </a:solidFill>
                <a:latin typeface="Cambria"/>
              </a:rPr>
              <a:t>x′ = log(1 + 10⁴ · x / total)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Simple, fast, the scanpy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64261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SCTransform (paper)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99816"/>
            <a:ext cx="512064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Regularised negative-binomial regression, per gene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Regresses out mitochondrial fraction and cell cycle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Residuals replace log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32120"/>
            <a:ext cx="112014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Highly variable genes: </a:t>
            </a:r>
            <a:r>
              <a:rPr sz="2000" b="0">
                <a:solidFill>
                  <a:srgbClr val="222222"/>
                </a:solidFill>
                <a:latin typeface="Calibri"/>
              </a:rPr>
              <a:t>keep the genes that carry biological signal. The paper used the top 4,000; scanpy defaults to 2,000.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Hafemeister &amp; Satija, Genome Biol 20:296 (2019); Liu et al. 2025. UMI medians from GSE241132 metadata.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PCA and the neighbour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30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about 4,000 variable genes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PCA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6304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Cells × PCs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40 in the paper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83680" y="2057400"/>
            <a:ext cx="548640" cy="457200"/>
          </a:xfrm>
          <a:prstGeom prst="rightArrow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kNN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4329" y="1541403"/>
            <a:ext cx="585253" cy="8526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29582" y="1626671"/>
            <a:ext cx="401954" cy="3755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24245" y="1541403"/>
            <a:ext cx="620084" cy="491183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357938" y="2689080"/>
            <a:ext cx="680534" cy="8920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9413155" y="1518656"/>
            <a:ext cx="230765" cy="308341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312497" y="1541403"/>
            <a:ext cx="231832" cy="496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924245" y="1546369"/>
            <a:ext cx="388252" cy="48621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924245" y="2032586"/>
            <a:ext cx="540906" cy="865564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712817" y="2689080"/>
            <a:ext cx="325655" cy="1020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479618" y="1689979"/>
            <a:ext cx="129060" cy="468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65151" y="2403551"/>
            <a:ext cx="349116" cy="49459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814267" y="1626671"/>
            <a:ext cx="315315" cy="776880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357938" y="2699285"/>
            <a:ext cx="354879" cy="78997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608678" y="1514331"/>
            <a:ext cx="291155" cy="175648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479618" y="1514331"/>
            <a:ext cx="420215" cy="22254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96923" y="2477166"/>
            <a:ext cx="461015" cy="301116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643920" y="1826997"/>
            <a:ext cx="253003" cy="6501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31536" y="1664228"/>
            <a:ext cx="112384" cy="162769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413155" y="1518656"/>
            <a:ext cx="118381" cy="145572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129582" y="1518656"/>
            <a:ext cx="283573" cy="108015"/>
          </a:xfrm>
          <a:prstGeom prst="line">
            <a:avLst/>
          </a:prstGeom>
          <a:ln w="1587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425457" y="1422531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010710" y="150779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805373" y="191371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919600" y="257020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360746" y="161800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525048" y="1708125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193625" y="142749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346279" y="2779278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593945" y="2580413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489806" y="1571107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695395" y="228467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239066" y="2659410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780961" y="1395459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778051" y="235829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412664" y="1545356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94283" y="1399784"/>
            <a:ext cx="237744" cy="237744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02920" y="3520440"/>
            <a:ext cx="11201400" cy="26974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" y="3657600"/>
            <a:ext cx="10698480" cy="2514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PCA </a:t>
            </a:r>
            <a:r>
              <a:rPr sz="2100" b="0">
                <a:solidFill>
                  <a:srgbClr val="222222"/>
                </a:solidFill>
                <a:latin typeface="Calibri"/>
              </a:rPr>
              <a:t>compresses the noisy gene space into a few dozen axes of variation.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How many PCs? </a:t>
            </a:r>
            <a:r>
              <a:rPr sz="2100" b="0">
                <a:solidFill>
                  <a:srgbClr val="222222"/>
                </a:solidFill>
                <a:latin typeface="Calibri"/>
              </a:rPr>
              <a:t>look at the elbow plot; the paper used 40.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100" b="1">
                <a:solidFill>
                  <a:srgbClr val="D40119"/>
                </a:solidFill>
                <a:latin typeface="Calibri"/>
              </a:rPr>
              <a:t>kNN graph: </a:t>
            </a:r>
            <a:r>
              <a:rPr sz="2100" b="0">
                <a:solidFill>
                  <a:srgbClr val="222222"/>
                </a:solidFill>
                <a:latin typeface="Calibri"/>
              </a:rPr>
              <a:t>each cell is linked to its most similar cells. Clustering and UMAP both work on this graph.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 Graph drawn for illustration.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Batch effects and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31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Technical differences between samples, runs or donors can separate cells more than biology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Harmony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Iteratively corrects the PCA space (used in the paper, 40 PCs)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BBKNN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Builds a batch-balanced neighbour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54880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E8833A"/>
                </a:solidFill>
                <a:latin typeface="Calibri"/>
              </a:rPr>
              <a:t>Scanorama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Stitches datasets through mutual nearest neighbours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097280"/>
            <a:ext cx="52578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344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Batch is not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74519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the paper, three donors give replicates for every time point, so correcting per sample is defensible.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In a single donor (our subset), each sample is one time point: correcting for sample can erase the very effect we want to study.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authors also checked that pseudobulk samples cluster by healing stage, not by donor.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Korsunsky et al., Nat Methods 16:1289 (2019); Polański et al., Bioinformatics 36:964 (2020); Hie et al., Nat Biotechnol 37:685 (2019); Liu et al. 2025.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Clustering and UMAP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32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5" name="Picture 4" descr="res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17" y="1097280"/>
            <a:ext cx="10450285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9204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Leiden </a:t>
            </a:r>
            <a:r>
              <a:rPr sz="1800" b="0">
                <a:solidFill>
                  <a:srgbClr val="222222"/>
                </a:solidFill>
                <a:latin typeface="Calibri"/>
              </a:rPr>
              <a:t>finds communities in the kNN graph and guarantees well-connected clusters (Louvain does not).</a:t>
            </a:r>
          </a:p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Resolution </a:t>
            </a:r>
            <a:r>
              <a:rPr sz="1800" b="0">
                <a:solidFill>
                  <a:srgbClr val="222222"/>
                </a:solidFill>
                <a:latin typeface="Calibri"/>
              </a:rPr>
              <a:t>sets how many clusters you get. Paper: 0.8 for 27 clusters, 0.5 for subclustering.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892040"/>
            <a:ext cx="54406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UMAP </a:t>
            </a:r>
            <a:r>
              <a:rPr sz="1800" b="0">
                <a:solidFill>
                  <a:srgbClr val="222222"/>
                </a:solidFill>
                <a:latin typeface="Calibri"/>
              </a:rPr>
              <a:t>is for visualisation: cluster sizes and distances between clusters are not quantitative.</a:t>
            </a:r>
          </a:p>
          <a:p>
            <a:pPr marL="219456" indent="-219456" algn="l">
              <a:spcAft>
                <a:spcPts val="800"/>
              </a:spcAft>
              <a:buClr>
                <a:srgbClr val="D40119"/>
              </a:buClr>
              <a:buChar char="•"/>
            </a:pPr>
            <a:r>
              <a:rPr sz="1800" b="1">
                <a:solidFill>
                  <a:srgbClr val="D40119"/>
                </a:solidFill>
                <a:latin typeface="Calibri"/>
              </a:rPr>
              <a:t>Always ask: </a:t>
            </a:r>
            <a:r>
              <a:rPr sz="1800" b="0">
                <a:solidFill>
                  <a:srgbClr val="222222"/>
                </a:solidFill>
                <a:latin typeface="Calibri"/>
              </a:rPr>
              <a:t>is this cluster stable across resolutions?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Simulated data for illustration. Traag, Waltman &amp; van Eck, Sci Rep 9:5233 (2019); Liu et al. 2025.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Marker genes and cell-type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33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6583679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8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Main cell type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Markers used in the paper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Keratinocytes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KRT5 (high) or KRT10 (high)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Fibroblasts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Myeloid cells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LYZ, HLA-DRA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Lymphoid cells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CD3D, NKG7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Endothelial cells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PECAM1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Mast cells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TPSAB1, TPSB2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Pericytes, smooth muscle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ACTA2, MYH11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Melanocytes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TYRP1, PMEL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Calibri"/>
                        </a:rPr>
                        <a:t>Schwann cells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Calibri"/>
                        </a:rPr>
                        <a:t>SOX10, SOX2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097280"/>
            <a:ext cx="4343400" cy="49377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1225295"/>
            <a:ext cx="397763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How to annotate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682495"/>
            <a:ext cx="3977639" cy="4251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Find the genes that distinguish each cluster</a:t>
            </a:r>
          </a:p>
          <a:p>
            <a:pPr marL="219456" indent="-219456" algn="l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Paper: Seurat FindAllMarkers with the MAST test</a:t>
            </a:r>
          </a:p>
          <a:p>
            <a:pPr marL="219456" indent="-219456" algn="l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Practical: scanpy rank_genes_groups (Wilcoxon)</a:t>
            </a:r>
          </a:p>
          <a:p>
            <a:pPr marL="219456" indent="-219456" algn="l">
              <a:spcAft>
                <a:spcPts val="11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Match markers to known biology, then compare with the authors'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Differential abundance: who is more (or less) frequent?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34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0020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118872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Migrating keratinocytes (Bas-mig + Spi-mig), % of all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097280"/>
            <a:ext cx="46177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225295"/>
            <a:ext cx="425195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Reading the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682495"/>
            <a:ext cx="4251959" cy="4389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The wave of migrating keratinocytes peaks at Wound1, as in the paper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Proportions are compositional: if one population grows, others shrink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Cells are not replicates, donors are: test with sample-level replication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Milo (used in the paper) tests neighbourhoods of the kNN graph instead of fixed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Computed from GSE241132 metadata (newCellTypes). Dann et al., Nat Biotechnol 40:245 (2022); Liu et al. 2025.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Trajectories: ordering cells along a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35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Gra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3749039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532120" y="1984248"/>
            <a:ext cx="320040" cy="292608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3172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Bas-mig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24612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Spi-mig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423160"/>
            <a:ext cx="1783080" cy="822960"/>
          </a:xfrm>
          <a:prstGeom prst="line">
            <a:avLst/>
          </a:prstGeom>
          <a:ln w="38100">
            <a:solidFill>
              <a:srgbClr val="D40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1188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B7F79"/>
                </a:solidFill>
                <a:latin typeface="Calibri"/>
              </a:rPr>
              <a:t>Differentiation (all keratinocytes)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40119"/>
                </a:solidFill>
                <a:latin typeface="Calibri"/>
              </a:rPr>
              <a:t>Wound-specific branches (KRT6A+ cells)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097280"/>
            <a:ext cx="384048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9" y="1225295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Pseudotime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1682495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Orders cells along a continuous process, from a chosen root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Paper: Monocle3, root in Bas-I; driver genes by Moran's I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Practical: diffusion pseudotime or PAGA in scanpy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70408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F5F5F"/>
                </a:solidFill>
                <a:latin typeface="Calibri"/>
              </a:rPr>
              <a:t>Simplified from the paper: keratinocytes split into wound and non-wound cells with a Gaussian mixture model on KRT6A.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Cao et al., Nature 566:496 (2019); Wolf et al., Genome Biol 20:59 (2019); Liu et al. 2025.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Beyond the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36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Cell–cell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Ligand–receptor inference: MultiNicheNet, CellChat in the paper; LIANA, squidpy in Python. Found EGFR ligands and CXCL1 in migration.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Gene regulatory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pySCENIC and CellOracle: FOSL1 knock-out and overexpression simulated in silico.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8833A"/>
                </a:solidFill>
                <a:latin typeface="Calibri"/>
              </a:rPr>
              <a:t>RNA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59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CellRank and scVelo: direction of fibroblast trajectories from spliced and unspliced reads.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F4B7C"/>
                </a:solidFill>
                <a:latin typeface="Calibri"/>
              </a:rPr>
              <a:t>Spatial transcriptomics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80559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Cell2location maps the scRNA-seq cell types onto Visium spots: the companion dataset of this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Liu et al., Cell Stem Cell 32:479–498 (2025).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828800" cy="2011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11000" b="1">
                <a:solidFill>
                  <a:srgbClr val="D40119"/>
                </a:solidFill>
                <a:latin typeface="Calibri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331720"/>
            <a:ext cx="36576" cy="155448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17520" y="210312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2222"/>
                </a:solidFill>
                <a:latin typeface="Calibri"/>
              </a:rPr>
              <a:t>Tools and practicals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52044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scanpy, AnnData and the dataset we will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37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scanpy: single-cell analysis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38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4206240" cy="19202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14283"/>
            <a:ext cx="3840480" cy="1686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24612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A scalable Python library for single-cell data analysis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Efficient for large datasets</a:t>
            </a:r>
          </a:p>
          <a:p>
            <a:pPr marL="219456" indent="-219456" algn="l">
              <a:spcAft>
                <a:spcPts val="12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Part of the scverse ecosystem, very well documented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read_10x_mtx, read_10x_h5, read_h5ad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09728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82880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filter_cells, filter_genes, normalize_total, log1p, highly_variable_genes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43484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pca, neighbors, umap, leiden, rank_genes_groups, dpt, paga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703320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370332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Plotting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443484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ourier New"/>
              </a:rPr>
              <a:t>umap, scatter, violin, dotplot, heatmap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Wolf, Angerer &amp; Theis, Genome Biol 19:15 (2018). Guides: sc-best-practices.org (Heumos et al., Nat Rev Genet 24:550, 2023).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AnnData: the data structure behind scanpy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39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03120"/>
            <a:ext cx="3291840" cy="265176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X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cells × genes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counts, normalised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103120" cy="265176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cell metadata: sample, time point, n_genes,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97280"/>
            <a:ext cx="3291840" cy="8686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var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gene metadata: symbol, highly 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103120"/>
            <a:ext cx="1920240" cy="2651760"/>
          </a:xfrm>
          <a:prstGeom prst="rect">
            <a:avLst/>
          </a:prstGeom>
          <a:solidFill>
            <a:srgbClr val="8E5EA2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obsm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PCA and UMAP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892040"/>
            <a:ext cx="3291840" cy="868680"/>
          </a:xfrm>
          <a:prstGeom prst="rect">
            <a:avLst/>
          </a:prstGeom>
          <a:solidFill>
            <a:srgbClr val="2F4B7C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layers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raw counts, other normalisations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4892040"/>
            <a:ext cx="1920240" cy="86868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uns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results, colours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188720"/>
            <a:ext cx="3200400" cy="484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Memory-efficient: sparse matrices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Data and metadata travel together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Saved as .h5ad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Shared by many tools (scanpy, squidpy, scvi-tools)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Virshup et al., J Open Source Softw 9:4371 (2024).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The dataset for our practicals: donor PWH27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40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645920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11887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/>
              </a:rPr>
              <a:t>Cells per sample (22,227 in total)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097280"/>
            <a:ext cx="5074920" cy="50749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225295"/>
            <a:ext cx="470915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this subset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682495"/>
            <a:ext cx="4709159" cy="4389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4 samples, 22,227 cells: runs on a laptop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Same individual across the whole healing time course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Public matrices on GEO (GSE241132), one archive per sample</a:t>
            </a:r>
          </a:p>
          <a:p>
            <a:pPr marL="219456" indent="-219456" algn="l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The authors' annotation is available to check our own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Cell counts from GSE241132 cell metadata.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From the paper's pipeline to our practical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41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201398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7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Paper (R, Seurat)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Practical (Python, scanpy)</a:t>
                      </a:r>
                    </a:p>
                  </a:txBody>
                  <a:tcPr marT="36576" marB="36576" anchor="ctr">
                    <a:solidFill>
                      <a:srgbClr val="D40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Counts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CellRanger 5.0.1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Provided (GEO matrices)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QC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&lt; 500 genes, &lt; 1,000 UMIs, &gt; 20% mito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Same thresholds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Doublets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 + DoubletFinder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Scrublet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Normalisation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SCTransform, 4,000 HVGs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Log-normalisation, HVGs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40 PCs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Harmony, BBKNN, Scanorama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Louvain, resolution 0.8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Leiden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Markers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FindAllMarkers (MAST)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rank_genes_groups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Abundance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Milo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Proportions per time point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Calibri"/>
                        </a:rPr>
                        <a:t>Trajectory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Monocle3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Diffusion pseudotime, PAGA</a:t>
                      </a:r>
                    </a:p>
                  </a:txBody>
                  <a:tcPr marT="36576" marB="36576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Practical column: planned content, to be adjusted with the notebooks. Paper column: Liu et al., STAR Methods.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Setting up the computational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42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6675120" cy="21031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309359" cy="18287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create and activate the course environment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env create -f environment.yml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mamba activate skinwound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E6E6E6"/>
              </a:solidFill>
              <a:latin typeface="Courier New"/>
            </a:endParaRP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6A9955"/>
                </a:solidFill>
                <a:latin typeface="Courier New"/>
              </a:rPr>
              <a:t># check that scanpy works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E6E6E6"/>
                </a:solidFill>
                <a:latin typeface="Courier New"/>
              </a:rPr>
              <a:t>python -c "import scanpy; print(scanpy.__version__)"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097280"/>
            <a:ext cx="4251960" cy="2286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225295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7F79"/>
                </a:solidFill>
                <a:latin typeface="Calibri"/>
              </a:rPr>
              <a:t>In the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82495"/>
            <a:ext cx="3886200" cy="16001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Python 3.11</a:t>
            </a:r>
          </a:p>
          <a:p>
            <a:pPr marL="219456" indent="-219456" algn="l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scanpy, anndata, leidenalg</a:t>
            </a:r>
          </a:p>
          <a:p>
            <a:pPr marL="219456" indent="-219456" algn="l">
              <a:spcAft>
                <a:spcPts val="400"/>
              </a:spcAft>
              <a:buClr>
                <a:srgbClr val="D40119"/>
              </a:buClr>
              <a:buChar char="•"/>
            </a:pPr>
            <a:r>
              <a:rPr sz="1800" b="0">
                <a:solidFill>
                  <a:srgbClr val="222222"/>
                </a:solidFill>
                <a:latin typeface="Calibri"/>
              </a:rPr>
              <a:t>harmonypy, bbknn, scanorama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7398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97096"/>
            <a:ext cx="5120640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Public matrices from GEO: GSE241132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Or the copy on the course server: path given by the instructor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118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7398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4B7C"/>
                </a:solidFill>
                <a:latin typeface="Calibri"/>
              </a:rPr>
              <a:t>Notebooks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97096"/>
            <a:ext cx="5120640" cy="18745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One notebook per module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Run cells in order; restart the kernel if something looks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Details in the repository README (environment.yml). Adjust if the course runs on the shared server.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43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594360" y="117043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09728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Single-cell resolves cell types and states that bulk averages hide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17627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0312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Every step before the count matrix (dissociation, capture, depth) shapes what we can see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18211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The workflow is a chain of choices: QC, normalisation, correction, resolution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18795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11480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Never correct for a variable that is confounded with the biology you study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5193792"/>
            <a:ext cx="640080" cy="64008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wrap="square" lIns="0" tIns="36576" rIns="0" bIns="36576" rtlCol="0" anchor="ctr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12064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Annotation and statistics need biological knowledge, and replicates that are donors, not cells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References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44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Liu Z. et al. Spatiotemporal single-cell roadmap of human skin wound healing. Cell Stem Cell 32, 479–498 (2025). doi:10.1016/j.stem.2024.11.013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Svensson V., Vento-Tormo R., Teichmann S.A. Exponential scaling of single-cell RNA-seq in the past decade. Nat Protoc 13, 599–604 (2018).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Aldridge S., Teichmann S.A. Single cell transcriptomics comes of age. Nat Commun 11, 4307 (2020).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Chen G., Ning B., Shi T. Single-cell RNA-seq technologies and related computational data analysis. Front Genet 10, 317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Ren et al. Scientific Data (2023). [reference to be verified]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Wolock S.L., Lopez R., Klein A.M. Scrublet. Cell Syst 8, 281–291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McGinnis C.S., Murrow L.M., Gartner Z.J. DoubletFinder. Cell Syst 8, 329–337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Hafemeister C., Satija R. Normalization and variance stabilization of single-cell RNA-seq data using regularized negative binomial regression. Genome Biol 20, 296 (2019).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References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45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201400" cy="521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Korsunsky I. et al. Fast, sensitive and accurate integration of single-cell data with Harmony. Nat Methods 16, 1289–1296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Polański K. et al. BBKNN: fast batch alignment of single cell transcriptomes. Bioinformatics 36, 964–965 (2020).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Hie B., Bryson B., Berger B. Efficient integration of heterogeneous single-cell transcriptomes using Scanorama. Nat Biotechnol 37, 685–691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Traag V.A., Waltman L., van Eck N.J. From Louvain to Leiden: guaranteeing well-connected communities. Sci Rep 9, 5233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Dann E. et al. Differential abundance testing on single-cell data using k-nearest neighbor graphs. Nat Biotechnol 40, 245–253 (2022).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Cao J. et al. The single-cell transcriptional landscape of mammalian organogenesis. Nature 566, 496–502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F.A., Angerer P., Theis F.J. SCANPY: large-scale single-cell gene expression data analysis. Genome Biol 19, 15 (2018).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Wolf F.A. et al. PAGA: graph abstraction reconciles clustering with trajectory inference. Genome Biol 20, 59 (2019).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Heumos L. et al. Best practices for single-cell analysis across modalities. Nat Rev Genet 24, 550–572 (2023).</a:t>
            </a:r>
          </a:p>
          <a:p>
            <a:pPr marL="219456" indent="-219456" algn="l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700" b="0">
                <a:solidFill>
                  <a:srgbClr val="222222"/>
                </a:solidFill>
                <a:latin typeface="Calibri"/>
              </a:rPr>
              <a:t>Virshup I. et al. anndata: access and store annotated data matrices. J Open Source Softw 9, 4371 (2024).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22222"/>
                </a:solidFill>
                <a:latin typeface="Calibri"/>
              </a:rPr>
              <a:t>To you, SupBioTech students,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F5F5F"/>
                </a:solidFill>
                <a:latin typeface="Calibri"/>
              </a:rPr>
              <a:t>Course given with the support of ENS de Lyon and the Spatial-Cell-ID Data Analysis hub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112187"/>
            <a:ext cx="2743200" cy="12853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89306"/>
            <a:ext cx="3291840" cy="11311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46</a:t>
            </a:fld>
            <a:endParaRPr lang="en-US" sz="1100">
              <a:solidFill>
                <a:srgbClr val="5F5F5F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4B9D48-087D-EDA5-BA22-658469765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114" y="3926271"/>
            <a:ext cx="1657216" cy="1657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21980</TotalTime>
  <Words>5211</Words>
  <Application>Microsoft Macintosh PowerPoint</Application>
  <PresentationFormat>Widescreen</PresentationFormat>
  <Paragraphs>698</Paragraphs>
  <Slides>46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Sarnataro</dc:creator>
  <cp:lastModifiedBy>Sergio Sarnataro</cp:lastModifiedBy>
  <cp:revision>31</cp:revision>
  <dcterms:created xsi:type="dcterms:W3CDTF">2025-09-26T13:15:49Z</dcterms:created>
  <dcterms:modified xsi:type="dcterms:W3CDTF">2026-10-09T09:46:01Z</dcterms:modified>
</cp:coreProperties>
</file>