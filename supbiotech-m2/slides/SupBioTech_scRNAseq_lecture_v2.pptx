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354" r:id="rId11"/>
    <p:sldId id="355" r:id="rId12"/>
    <p:sldId id="356" r:id="rId13"/>
    <p:sldId id="357" r:id="rId14"/>
    <p:sldId id="358" r:id="rId15"/>
    <p:sldId id="359" r:id="rId16"/>
    <p:sldId id="360" r:id="rId17"/>
    <p:sldId id="361" r:id="rId18"/>
    <p:sldId id="362" r:id="rId19"/>
    <p:sldId id="363" r:id="rId20"/>
    <p:sldId id="364" r:id="rId21"/>
    <p:sldId id="365" r:id="rId22"/>
    <p:sldId id="366" r:id="rId23"/>
    <p:sldId id="367" r:id="rId24"/>
    <p:sldId id="368" r:id="rId25"/>
    <p:sldId id="369" r:id="rId26"/>
    <p:sldId id="370" r:id="rId27"/>
    <p:sldId id="371" r:id="rId28"/>
    <p:sldId id="372" r:id="rId29"/>
    <p:sldId id="373" r:id="rId30"/>
    <p:sldId id="374" r:id="rId31"/>
    <p:sldId id="375" r:id="rId32"/>
    <p:sldId id="376" r:id="rId33"/>
    <p:sldId id="377" r:id="rId34"/>
    <p:sldId id="378" r:id="rId35"/>
    <p:sldId id="379" r:id="rId36"/>
    <p:sldId id="380" r:id="rId37"/>
    <p:sldId id="381" r:id="rId38"/>
    <p:sldId id="382" r:id="rId39"/>
    <p:sldId id="383" r:id="rId40"/>
    <p:sldId id="384" r:id="rId41"/>
    <p:sldId id="385" r:id="rId42"/>
    <p:sldId id="386" r:id="rId43"/>
    <p:sldId id="387" r:id="rId44"/>
    <p:sldId id="388" r:id="rId45"/>
    <p:sldId id="389" r:id="rId46"/>
    <p:sldId id="390" r:id="rId10"/>
    <p:sldId id="391" r:id="rId9"/>
    <p:sldId id="392" r:id="rId8"/>
    <p:sldId id="393" r:id="rId7"/>
    <p:sldId id="394" r:id="rId6"/>
    <p:sldId id="395" r:id="rId52"/>
    <p:sldId id="396" r:id="rId53"/>
    <p:sldId id="397" r:id="rId54"/>
    <p:sldId id="398" r:id="rId55"/>
    <p:sldId id="270" r:id="rId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7" roundtripDataSignature="AMtx7mg/PVIhmSUw95/wsB629YHcpr3i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0119"/>
    <a:srgbClr val="00A2A0"/>
    <a:srgbClr val="00A19E"/>
    <a:srgbClr val="C9760B"/>
    <a:srgbClr val="0173C6"/>
    <a:srgbClr val="465465"/>
    <a:srgbClr val="C0403A"/>
    <a:srgbClr val="B32010"/>
    <a:srgbClr val="EF961C"/>
    <a:srgbClr val="9AB8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81"/>
    <p:restoredTop sz="94882"/>
  </p:normalViewPr>
  <p:slideViewPr>
    <p:cSldViewPr snapToGrid="0">
      <p:cViewPr varScale="1">
        <p:scale>
          <a:sx n="119" d="100"/>
          <a:sy n="119" d="100"/>
        </p:scale>
        <p:origin x="6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44.xml"/><Relationship Id="rId7" Type="http://schemas.openxmlformats.org/officeDocument/2006/relationships/slide" Target="slides/slide43.xml"/><Relationship Id="rId8" Type="http://schemas.openxmlformats.org/officeDocument/2006/relationships/slide" Target="slides/slide42.xml"/><Relationship Id="rId9" Type="http://schemas.openxmlformats.org/officeDocument/2006/relationships/slide" Target="slides/slide41.xml"/><Relationship Id="rId10" Type="http://schemas.openxmlformats.org/officeDocument/2006/relationships/slide" Target="slides/slide40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customschemas.google.com/relationships/presentationmetadata" Target="metadata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Keratinocyte</c:v>
                </c:pt>
              </c:strCache>
            </c:strRef>
          </c:tx>
          <c:spPr>
            <a:solidFill>
              <a:srgbClr val="1B7F79"/>
            </a:solidFill>
          </c:spPr>
          <c:dLbls>
            <c:numFmt formatCode="0&quot;%&quot;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Skin</c:v>
                </c:pt>
                <c:pt idx="1">
                  <c:v>Wound1</c:v>
                </c:pt>
                <c:pt idx="2">
                  <c:v>Wound7</c:v>
                </c:pt>
                <c:pt idx="3">
                  <c:v>Wound30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49.7</c:v>
                </c:pt>
                <c:pt idx="1">
                  <c:v>69.3</c:v>
                </c:pt>
                <c:pt idx="2">
                  <c:v>38.2</c:v>
                </c:pt>
                <c:pt idx="3">
                  <c:v>42.1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Fibroblast</c:v>
                </c:pt>
              </c:strCache>
            </c:strRef>
          </c:tx>
          <c:spPr>
            <a:solidFill>
              <a:srgbClr val="8E5EA2"/>
            </a:solidFill>
          </c:spPr>
          <c:dLbls>
            <c:numFmt formatCode="0&quot;%&quot;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Skin</c:v>
                </c:pt>
                <c:pt idx="1">
                  <c:v>Wound1</c:v>
                </c:pt>
                <c:pt idx="2">
                  <c:v>Wound7</c:v>
                </c:pt>
                <c:pt idx="3">
                  <c:v>Wound30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16.0</c:v>
                </c:pt>
                <c:pt idx="1">
                  <c:v>7.7</c:v>
                </c:pt>
                <c:pt idx="2">
                  <c:v>30.6</c:v>
                </c:pt>
                <c:pt idx="3">
                  <c:v>35.2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Myeloid</c:v>
                </c:pt>
              </c:strCache>
            </c:strRef>
          </c:tx>
          <c:spPr>
            <a:solidFill>
              <a:srgbClr val="E0A030"/>
            </a:solidFill>
          </c:spPr>
          <c:dLbls>
            <c:numFmt formatCode="0&quot;%&quot;" sourceLinked="0"/>
            <c:txPr>
              <a:bodyPr/>
              <a:lstStyle/>
              <a:p>
                <a:pPr>
                  <a:defRPr sz="1200" b="1">
                    <a:solidFill>
                      <a:srgbClr val="222222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Skin</c:v>
                </c:pt>
                <c:pt idx="1">
                  <c:v>Wound1</c:v>
                </c:pt>
                <c:pt idx="2">
                  <c:v>Wound7</c:v>
                </c:pt>
                <c:pt idx="3">
                  <c:v>Wound30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11.8</c:v>
                </c:pt>
                <c:pt idx="1">
                  <c:v>7.0</c:v>
                </c:pt>
                <c:pt idx="2">
                  <c:v>13.5</c:v>
                </c:pt>
                <c:pt idx="3">
                  <c:v>6.8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Lymphoid</c:v>
                </c:pt>
              </c:strCache>
            </c:strRef>
          </c:tx>
          <c:spPr>
            <a:solidFill>
              <a:srgbClr val="5B9BD5"/>
            </a:solidFill>
          </c:spPr>
          <c:cat>
            <c:strRef>
              <c:f>Sheet1!$A$2:$A$5</c:f>
              <c:strCache>
                <c:ptCount val="4"/>
                <c:pt idx="0">
                  <c:v>Skin</c:v>
                </c:pt>
                <c:pt idx="1">
                  <c:v>Wound1</c:v>
                </c:pt>
                <c:pt idx="2">
                  <c:v>Wound7</c:v>
                </c:pt>
                <c:pt idx="3">
                  <c:v>Wound30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6.3</c:v>
                </c:pt>
                <c:pt idx="1">
                  <c:v>8.0</c:v>
                </c:pt>
                <c:pt idx="2">
                  <c:v>10.3</c:v>
                </c:pt>
                <c:pt idx="3">
                  <c:v>3.8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C8C8C8"/>
            </a:solidFill>
          </c:spPr>
          <c:cat>
            <c:strRef>
              <c:f>Sheet1!$A$2:$A$5</c:f>
              <c:strCache>
                <c:ptCount val="4"/>
                <c:pt idx="0">
                  <c:v>Skin</c:v>
                </c:pt>
                <c:pt idx="1">
                  <c:v>Wound1</c:v>
                </c:pt>
                <c:pt idx="2">
                  <c:v>Wound7</c:v>
                </c:pt>
                <c:pt idx="3">
                  <c:v>Wound30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16.2</c:v>
                </c:pt>
                <c:pt idx="1">
                  <c:v>8.0</c:v>
                </c:pt>
                <c:pt idx="2">
                  <c:v>7.4</c:v>
                </c:pt>
                <c:pt idx="3">
                  <c:v>12.1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/>
      <c:overlay val="0"/>
      <c:txPr>
        <a:bodyPr/>
        <a:lstStyle/>
        <a:p>
          <a:pPr>
            <a:defRPr sz="1400"/>
          </a:pPr>
        </a:p>
      </c:txPr>
    </c:legend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Donor PWH27</c:v>
                </c:pt>
              </c:strCache>
            </c:strRef>
          </c:tx>
          <c:spPr>
            <a:solidFill>
              <a:srgbClr val="D40119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12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Skin</c:v>
                </c:pt>
                <c:pt idx="1">
                  <c:v>Wound1</c:v>
                </c:pt>
                <c:pt idx="2">
                  <c:v>Wound7</c:v>
                </c:pt>
                <c:pt idx="3">
                  <c:v>Wound30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2.0</c:v>
                </c:pt>
                <c:pt idx="1">
                  <c:v>21.3</c:v>
                </c:pt>
                <c:pt idx="2">
                  <c:v>9.3</c:v>
                </c:pt>
                <c:pt idx="3">
                  <c:v>8.5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All 3 donors</c:v>
                </c:pt>
              </c:strCache>
            </c:strRef>
          </c:tx>
          <c:spPr>
            <a:solidFill>
              <a:srgbClr val="9AA5B1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12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Skin</c:v>
                </c:pt>
                <c:pt idx="1">
                  <c:v>Wound1</c:v>
                </c:pt>
                <c:pt idx="2">
                  <c:v>Wound7</c:v>
                </c:pt>
                <c:pt idx="3">
                  <c:v>Wound30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1.8</c:v>
                </c:pt>
                <c:pt idx="1">
                  <c:v>21.6</c:v>
                </c:pt>
                <c:pt idx="2">
                  <c:v>9.1</c:v>
                </c:pt>
                <c:pt idx="3">
                  <c:v>5.8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.0"/>
          <c:min val="0.0"/>
        </c:scaling>
        <c:delete val="0"/>
        <c:axPos val="l"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  <c:majorUnit val="5.0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Cells</c:v>
                </c:pt>
              </c:strCache>
            </c:strRef>
          </c:tx>
          <c:dPt>
            <c:idx val="0"/>
            <c:spPr>
              <a:solidFill>
                <a:srgbClr val="9AA5B1"/>
              </a:solidFill>
            </c:spPr>
          </c:dPt>
          <c:dPt>
            <c:idx val="1"/>
            <c:spPr>
              <a:solidFill>
                <a:srgbClr val="D40119"/>
              </a:solidFill>
            </c:spPr>
          </c:dPt>
          <c:dPt>
            <c:idx val="2"/>
            <c:spPr>
              <a:solidFill>
                <a:srgbClr val="E8833A"/>
              </a:solidFill>
            </c:spPr>
          </c:dPt>
          <c:dPt>
            <c:idx val="3"/>
            <c:spPr>
              <a:solidFill>
                <a:srgbClr val="2F4B7C"/>
              </a:solidFill>
            </c:spPr>
          </c:dPt>
          <c:dLbls>
            <c:numFmt formatCode="#,##0" sourceLinked="0"/>
            <c:txPr>
              <a:bodyPr/>
              <a:lstStyle/>
              <a:p>
                <a:pPr>
                  <a:defRPr sz="1400" b="1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Skin</c:v>
                </c:pt>
                <c:pt idx="1">
                  <c:v>Wound1</c:v>
                </c:pt>
                <c:pt idx="2">
                  <c:v>Wound7</c:v>
                </c:pt>
                <c:pt idx="3">
                  <c:v>Wound30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3265</c:v>
                </c:pt>
                <c:pt idx="1">
                  <c:v>6491</c:v>
                </c:pt>
                <c:pt idx="2">
                  <c:v>6518</c:v>
                </c:pt>
                <c:pt idx="3">
                  <c:v>5953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00.0"/>
        </c:scaling>
        <c:delete val="0"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Introductory lecture at the start of day 1. 14 hours in total over two days; this lecture gives the context and the concepts, the rest is hands-on with scanpy.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9" name="Google Shape;23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this short (1 minute). Background: theoretical physics, then computational biology and NGS data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slide on the platform. The Data Analysis hub is where this course material comes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Programme is a proposal: the exact split between days can be adjusted. Every practical uses the same dataset as the case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LEGO analogy: an organ is a structure of different bricks. Bulk grinds it into a pile, single-cell sorts the bricks, spatial keeps the structure. TODO: add the original source of the LEGO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Goals on the left, challenges on the right; the challenges are what the analysis workflow is designed to handle. The red bar introduces the running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Example 1 is from my own work. Example 2 anticipates the case study: the migrating keratinocytes are a state, not a new tissue.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Number of cells per study grew exponentially in the past decade (top: technologies, bottom: cells per study on a log scale).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table lists methods with transcript coverage, UMI availability and strand specificity. Trade-off: depth per cell vs number of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Colour code introduced here (grey, red, orange, navy for Skin, Wound1, Wound7, Wound30) is reused in every chart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Numbers in the table come from GSE241132_cell_metadata.txt (58,823 cells). Total matches the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numbers from the metadata of donor PWH27 (22,227 cells). The paper groups clusters into 9 main cell types; the metadata file lists hair follicle as a tenth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Insert Figure 1B (and 1C) from Liu et al. 2025, open access CC BY 4.0. Cite the figure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take-aways. Point 1 and 3 can be reproduced from the data in the practical; 2 and 4 need extra tools or data and are discussed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Insert Figure 2A–C (UMAP of keratinocytes, dot plot, proportions). These are the states we try to recover in the practical.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Protocol as described in the STAR Methods. The take-home: every step before the sequencer shapes what you can see afterwards.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TODO: verify the Ren et al. 2023 reference (could not be confirmed online).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1: 28 bp = 16 bp cell barcode + 12 bp UMI. Read 2: cDNA from the 3' end of the transcript. The old figure showed the v2 layout (26 bp); the paper used v3.1.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coloured chip is a read; chips with the same UMI in the same cell and gene collapse into a single molecule.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FASTQ = text file, 4 lines per read. In single-cell, R1 contains barcode and UMI, R2 the cDNA.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 the practical we start from the count matrices deposited on GEO, so alignment is not repeated.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Sparse storage keeps only the non-zero entries as (gene, cell, value) triplets: that is the MTX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Roadmap for the next slides: one slide per step (two for QC).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Discuss why the mitochondrial threshold is meaningful in dissociated cells. Numbers: raw matrix of 65,462 cells and 27,973 genes; 58,823 cells and 25,778 genes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 the practical we detect doublets with Scrublet (Python-native).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Median nCount_RNA per time point in PWH27: 19,666 (Skin), 20,713 (Wound1), 14,991 (Wound7), 16,671 (Wound30).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PCA is linear; the neighbour graph is the object everything downstream (Leiden, UMAP, PAGA, Milo)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teaching point of day 1: never correct a variable that is confounded with your biological question. Use the practical to show the 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Same points, three resolutions. Ties in with the parameter-sensitivity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Annotation combines statistics and prior knowledge. In the practical, students compare their labels with newMainCellTypes from the GEO metadata.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numbers: migrating KC per time point, PWH27: 65/3265, 1385/6491, 604/6518, 505/5953 cells. All donors: 204, 3414, 1486, 879.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extra branches in wound cells: Bas-I to Bas-mig, and Spi-II to Spi-mig. A pseudotime is an ordering, not a clock.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Optional demos or discussion if time permits.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scanpy has four families of functions: input/output, preprocessing, tools and plotting.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Rows of X are cells (obs), columns are genes (var).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Decision: practicals use PWH27 only. Keep the full 58,823-cell dataset as context and for the paper's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Same logic, different tools. Differences are teaching opportunities: SCTransform vs log-normalisation, Louvain vs Leiden.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Replace with the actual server instructions once fixed. Also mention the environment name (skinwound) from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the lecture, then move to the first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Reference formats follow the sources used on the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Reference formats follow the sources used on the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ftr" idx="11"/>
          </p:nvPr>
        </p:nvSpPr>
        <p:spPr>
          <a:xfrm>
            <a:off x="415600" y="642162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Google Shape;71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5.png"/><Relationship Id="rId10" Type="http://schemas.openxmlformats.org/officeDocument/2006/relationships/image" Target="../media/image6.png"/><Relationship Id="rId11" Type="http://schemas.openxmlformats.org/officeDocument/2006/relationships/image" Target="../media/image7.png"/><Relationship Id="rId12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1;p1">
            <a:extLst>
              <a:ext uri="{FF2B5EF4-FFF2-40B4-BE49-F238E27FC236}">
                <a16:creationId xmlns:a16="http://schemas.microsoft.com/office/drawing/2014/main" id="{C42E8464-0D18-02F7-5056-E3037326418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l="28309"/>
          <a:stretch>
            <a:fillRect/>
          </a:stretch>
        </p:blipFill>
        <p:spPr>
          <a:xfrm>
            <a:off x="84439" y="5931553"/>
            <a:ext cx="1110696" cy="641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2;p1">
            <a:extLst>
              <a:ext uri="{FF2B5EF4-FFF2-40B4-BE49-F238E27FC236}">
                <a16:creationId xmlns:a16="http://schemas.microsoft.com/office/drawing/2014/main" id="{6A836E69-D922-4B63-7081-6A3760E283B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5789" y="6000020"/>
            <a:ext cx="504934" cy="504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03;p1">
            <a:extLst>
              <a:ext uri="{FF2B5EF4-FFF2-40B4-BE49-F238E27FC236}">
                <a16:creationId xmlns:a16="http://schemas.microsoft.com/office/drawing/2014/main" id="{CFE81981-2D0C-43C9-64A6-DC7F9A095B3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54937" y="6049034"/>
            <a:ext cx="443374" cy="443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4;p1">
            <a:extLst>
              <a:ext uri="{FF2B5EF4-FFF2-40B4-BE49-F238E27FC236}">
                <a16:creationId xmlns:a16="http://schemas.microsoft.com/office/drawing/2014/main" id="{4E83A771-128E-2F15-DB3B-AEFF48A2F33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t="33320" b="35604"/>
          <a:stretch/>
        </p:blipFill>
        <p:spPr>
          <a:xfrm>
            <a:off x="2932780" y="6094837"/>
            <a:ext cx="1166781" cy="362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05;p1">
            <a:extLst>
              <a:ext uri="{FF2B5EF4-FFF2-40B4-BE49-F238E27FC236}">
                <a16:creationId xmlns:a16="http://schemas.microsoft.com/office/drawing/2014/main" id="{06BD22FC-7F27-672C-4A77-0E266A5850E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89661" y="5947925"/>
            <a:ext cx="654510" cy="654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06;p1">
            <a:extLst>
              <a:ext uri="{FF2B5EF4-FFF2-40B4-BE49-F238E27FC236}">
                <a16:creationId xmlns:a16="http://schemas.microsoft.com/office/drawing/2014/main" id="{60769A1D-3698-CDF4-7BDE-0E8C6D7B354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4171" y="6155051"/>
            <a:ext cx="872209" cy="231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07;p1">
            <a:extLst>
              <a:ext uri="{FF2B5EF4-FFF2-40B4-BE49-F238E27FC236}">
                <a16:creationId xmlns:a16="http://schemas.microsoft.com/office/drawing/2014/main" id="{6CA5648D-874F-AF01-8D25-34CABA1ED47C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t="33348" b="32978"/>
          <a:stretch/>
        </p:blipFill>
        <p:spPr>
          <a:xfrm>
            <a:off x="5727944" y="6053675"/>
            <a:ext cx="1110696" cy="37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01;p1">
            <a:extLst>
              <a:ext uri="{FF2B5EF4-FFF2-40B4-BE49-F238E27FC236}">
                <a16:creationId xmlns:a16="http://schemas.microsoft.com/office/drawing/2014/main" id="{2F0EFAD8-5E23-C1DB-3BE3-5F57DFAEDA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77970"/>
          <a:stretch>
            <a:fillRect/>
          </a:stretch>
        </p:blipFill>
        <p:spPr>
          <a:xfrm>
            <a:off x="1835278" y="5883404"/>
            <a:ext cx="508095" cy="708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500173E-3F62-D9A7-4EC0-7749720BC74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15936" b="12086"/>
          <a:stretch>
            <a:fillRect/>
          </a:stretch>
        </p:blipFill>
        <p:spPr>
          <a:xfrm>
            <a:off x="7463765" y="3429000"/>
            <a:ext cx="4643796" cy="33424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EAD093-ADCD-062C-5F3F-0D6F74A51FD9}"/>
              </a:ext>
            </a:extLst>
          </p:cNvPr>
          <p:cNvSpPr/>
          <p:nvPr/>
        </p:nvSpPr>
        <p:spPr>
          <a:xfrm>
            <a:off x="0" y="1353786"/>
            <a:ext cx="12192000" cy="1246909"/>
          </a:xfrm>
          <a:prstGeom prst="rect">
            <a:avLst/>
          </a:prstGeom>
          <a:solidFill>
            <a:srgbClr val="D401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Google Shape;96;p1">
            <a:extLst>
              <a:ext uri="{FF2B5EF4-FFF2-40B4-BE49-F238E27FC236}">
                <a16:creationId xmlns:a16="http://schemas.microsoft.com/office/drawing/2014/main" id="{6EAFD760-9991-C269-2EF9-50B1F8B54C16}"/>
              </a:ext>
            </a:extLst>
          </p:cNvPr>
          <p:cNvSpPr txBox="1"/>
          <p:nvPr/>
        </p:nvSpPr>
        <p:spPr>
          <a:xfrm>
            <a:off x="-59377" y="1501439"/>
            <a:ext cx="12310753" cy="997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Single-Cell RNA-Seq Data Analysis</a:t>
            </a:r>
            <a:r>
              <a:rPr lang="it-IT" sz="2400" b="1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24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SupBioTech M2 · Paris · October 18–19, 2026</a:t>
            </a:r>
            <a:r>
              <a:rPr lang="en-US" sz="2400" b="1" baseline="300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4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4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400" b="1" baseline="300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4" name="Google Shape;96;p1">
            <a:extLst>
              <a:ext uri="{FF2B5EF4-FFF2-40B4-BE49-F238E27FC236}">
                <a16:creationId xmlns:a16="http://schemas.microsoft.com/office/drawing/2014/main" id="{4BE420F9-3CC6-361C-08BC-E03FE08B53FE}"/>
              </a:ext>
            </a:extLst>
          </p:cNvPr>
          <p:cNvSpPr txBox="1"/>
          <p:nvPr/>
        </p:nvSpPr>
        <p:spPr>
          <a:xfrm>
            <a:off x="167566" y="3022970"/>
            <a:ext cx="6444478" cy="997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Sergio Sarnataro</a:t>
            </a:r>
            <a:endParaRPr sz="24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Data Analysis group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15" name="Picture 14" descr="image5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04120" y="274320"/>
            <a:ext cx="1951463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"/>
          <p:cNvSpPr txBox="1"/>
          <p:nvPr/>
        </p:nvSpPr>
        <p:spPr>
          <a:xfrm>
            <a:off x="6292425" y="1522050"/>
            <a:ext cx="39878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the collaborators at</a:t>
            </a:r>
            <a:endParaRPr dirty="0"/>
          </a:p>
        </p:txBody>
      </p:sp>
      <p:pic>
        <p:nvPicPr>
          <p:cNvPr id="253" name="Google Shape;253;p15" descr="IFB - Institut Français de Bioinformatiqu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4792" y="2506353"/>
            <a:ext cx="1850789" cy="922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5" descr="accueil:presentation[PSMN]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8816" y="3565540"/>
            <a:ext cx="2462743" cy="1205128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5"/>
          <p:cNvSpPr txBox="1"/>
          <p:nvPr/>
        </p:nvSpPr>
        <p:spPr>
          <a:xfrm>
            <a:off x="89995" y="1999872"/>
            <a:ext cx="38203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Computational Infrastructures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E6F5B9-2852-256B-101D-9418FCF85974}"/>
              </a:ext>
            </a:extLst>
          </p:cNvPr>
          <p:cNvGrpSpPr/>
          <p:nvPr/>
        </p:nvGrpSpPr>
        <p:grpSpPr>
          <a:xfrm>
            <a:off x="6383986" y="5121259"/>
            <a:ext cx="3905860" cy="1403439"/>
            <a:chOff x="6525525" y="5192511"/>
            <a:chExt cx="3905860" cy="1403439"/>
          </a:xfrm>
        </p:grpSpPr>
        <p:pic>
          <p:nvPicPr>
            <p:cNvPr id="2" name="Google Shape;101;p1">
              <a:extLst>
                <a:ext uri="{FF2B5EF4-FFF2-40B4-BE49-F238E27FC236}">
                  <a16:creationId xmlns:a16="http://schemas.microsoft.com/office/drawing/2014/main" id="{00C2A58D-FB43-0436-8809-70D19ACB13AF}"/>
                </a:ext>
              </a:extLst>
            </p:cNvPr>
            <p:cNvPicPr preferRelativeResize="0">
              <a:picLocks noChangeAspect="1"/>
            </p:cNvPicPr>
            <p:nvPr/>
          </p:nvPicPr>
          <p:blipFill rotWithShape="1">
            <a:blip r:embed="rId5">
              <a:alphaModFix/>
            </a:blip>
            <a:srcRect l="28309"/>
            <a:stretch>
              <a:fillRect/>
            </a:stretch>
          </p:blipFill>
          <p:spPr>
            <a:xfrm>
              <a:off x="6950191" y="5240660"/>
              <a:ext cx="1110696" cy="6418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02;p1">
              <a:extLst>
                <a:ext uri="{FF2B5EF4-FFF2-40B4-BE49-F238E27FC236}">
                  <a16:creationId xmlns:a16="http://schemas.microsoft.com/office/drawing/2014/main" id="{E3623AE5-0125-D40A-5A52-7A09046CC2B3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141541" y="5309127"/>
              <a:ext cx="504934" cy="5049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103;p1">
              <a:extLst>
                <a:ext uri="{FF2B5EF4-FFF2-40B4-BE49-F238E27FC236}">
                  <a16:creationId xmlns:a16="http://schemas.microsoft.com/office/drawing/2014/main" id="{3B73A0A5-820E-A344-D482-6E4FD18AAEA8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320689" y="5358141"/>
              <a:ext cx="443374" cy="4433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04;p1">
              <a:extLst>
                <a:ext uri="{FF2B5EF4-FFF2-40B4-BE49-F238E27FC236}">
                  <a16:creationId xmlns:a16="http://schemas.microsoft.com/office/drawing/2014/main" id="{C16F67F7-F292-2351-62FF-475A3CE40945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 t="33320" b="35604"/>
            <a:stretch/>
          </p:blipFill>
          <p:spPr>
            <a:xfrm>
              <a:off x="6525525" y="6088352"/>
              <a:ext cx="1166781" cy="3625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05;p1">
              <a:extLst>
                <a:ext uri="{FF2B5EF4-FFF2-40B4-BE49-F238E27FC236}">
                  <a16:creationId xmlns:a16="http://schemas.microsoft.com/office/drawing/2014/main" id="{ECADC60E-47F3-1158-FD9F-D2DBAB69B7CC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7682406" y="5941440"/>
              <a:ext cx="654510" cy="6545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06;p1">
              <a:extLst>
                <a:ext uri="{FF2B5EF4-FFF2-40B4-BE49-F238E27FC236}">
                  <a16:creationId xmlns:a16="http://schemas.microsoft.com/office/drawing/2014/main" id="{26ECA98A-9FDE-C6FB-B971-B66A9CEF0876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8336916" y="6148566"/>
              <a:ext cx="872209" cy="2313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07;p1">
              <a:extLst>
                <a:ext uri="{FF2B5EF4-FFF2-40B4-BE49-F238E27FC236}">
                  <a16:creationId xmlns:a16="http://schemas.microsoft.com/office/drawing/2014/main" id="{25017C89-72B5-23D7-8A1B-F36DCEB9654D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 t="33348" b="32978"/>
            <a:stretch/>
          </p:blipFill>
          <p:spPr>
            <a:xfrm>
              <a:off x="9320689" y="6047190"/>
              <a:ext cx="1110696" cy="373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101;p1">
              <a:extLst>
                <a:ext uri="{FF2B5EF4-FFF2-40B4-BE49-F238E27FC236}">
                  <a16:creationId xmlns:a16="http://schemas.microsoft.com/office/drawing/2014/main" id="{B705CAED-A536-5785-0A55-515B66350C5F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r="77970"/>
            <a:stretch>
              <a:fillRect/>
            </a:stretch>
          </p:blipFill>
          <p:spPr>
            <a:xfrm>
              <a:off x="8701030" y="5192511"/>
              <a:ext cx="508095" cy="7082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Google Shape;242;p15">
            <a:extLst>
              <a:ext uri="{FF2B5EF4-FFF2-40B4-BE49-F238E27FC236}">
                <a16:creationId xmlns:a16="http://schemas.microsoft.com/office/drawing/2014/main" id="{B6D6209C-09E1-5161-A202-F48B55ED75BB}"/>
              </a:ext>
            </a:extLst>
          </p:cNvPr>
          <p:cNvSpPr txBox="1"/>
          <p:nvPr/>
        </p:nvSpPr>
        <p:spPr>
          <a:xfrm>
            <a:off x="-15751" y="5680879"/>
            <a:ext cx="403187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You, SupBioTech students,</a:t>
            </a:r>
            <a:b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your attention</a:t>
            </a:r>
            <a:endParaRPr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1484A5-EF32-7ACA-3A1A-1C821FF61A8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88508" y="1920259"/>
            <a:ext cx="2896816" cy="289681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EB0831B-0ADA-FAC4-C309-E558344BA82A}"/>
              </a:ext>
            </a:extLst>
          </p:cNvPr>
          <p:cNvSpPr/>
          <p:nvPr/>
        </p:nvSpPr>
        <p:spPr>
          <a:xfrm>
            <a:off x="0" y="5594"/>
            <a:ext cx="12192000" cy="1246909"/>
          </a:xfrm>
          <a:prstGeom prst="rect">
            <a:avLst/>
          </a:prstGeom>
          <a:solidFill>
            <a:srgbClr val="D401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oogle Shape;242;p15">
            <a:extLst>
              <a:ext uri="{FF2B5EF4-FFF2-40B4-BE49-F238E27FC236}">
                <a16:creationId xmlns:a16="http://schemas.microsoft.com/office/drawing/2014/main" id="{9D98C978-5FFC-C435-A788-612DE02400D5}"/>
              </a:ext>
            </a:extLst>
          </p:cNvPr>
          <p:cNvSpPr txBox="1"/>
          <p:nvPr/>
        </p:nvSpPr>
        <p:spPr>
          <a:xfrm>
            <a:off x="207653" y="259309"/>
            <a:ext cx="480373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Acknowledgements</a:t>
            </a:r>
            <a:endParaRPr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Who am I?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48640" y="2761488"/>
            <a:ext cx="11064240" cy="36576"/>
          </a:xfrm>
          <a:prstGeom prst="rect">
            <a:avLst/>
          </a:prstGeom>
          <a:solidFill>
            <a:srgbClr val="2F4B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88720" y="16002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2016</a:t>
            </a:r>
          </a:p>
        </p:txBody>
      </p:sp>
      <p:sp>
        <p:nvSpPr>
          <p:cNvPr id="10" name="Oval 9"/>
          <p:cNvSpPr/>
          <p:nvPr/>
        </p:nvSpPr>
        <p:spPr>
          <a:xfrm>
            <a:off x="1783080" y="2670048"/>
            <a:ext cx="201168" cy="201168"/>
          </a:xfrm>
          <a:prstGeom prst="ellipse">
            <a:avLst/>
          </a:prstGeom>
          <a:solidFill>
            <a:srgbClr val="2F4B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3154680"/>
            <a:ext cx="1325880" cy="1325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47091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MSc in Theoretical Physics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5778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700" b="0" i="1">
                <a:solidFill>
                  <a:srgbClr val="5F5F5F"/>
                </a:solidFill>
                <a:latin typeface="Calibri"/>
              </a:rPr>
              <a:t>University of Naples (Italy)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16002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2016–20</a:t>
            </a:r>
          </a:p>
        </p:txBody>
      </p:sp>
      <p:sp>
        <p:nvSpPr>
          <p:cNvPr id="15" name="Oval 14"/>
          <p:cNvSpPr/>
          <p:nvPr/>
        </p:nvSpPr>
        <p:spPr>
          <a:xfrm>
            <a:off x="4617720" y="2670048"/>
            <a:ext cx="201168" cy="201168"/>
          </a:xfrm>
          <a:prstGeom prst="ellipse">
            <a:avLst/>
          </a:prstGeom>
          <a:solidFill>
            <a:srgbClr val="2F4B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3223260"/>
            <a:ext cx="2377440" cy="11887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337560" y="47091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PhD in Computational Biology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55778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700" b="0" i="1">
                <a:solidFill>
                  <a:srgbClr val="5F5F5F"/>
                </a:solidFill>
                <a:latin typeface="Calibri"/>
              </a:rPr>
              <a:t>IGBMC Strasbourg (France)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16002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2020–22</a:t>
            </a:r>
          </a:p>
        </p:txBody>
      </p:sp>
      <p:sp>
        <p:nvSpPr>
          <p:cNvPr id="20" name="Oval 19"/>
          <p:cNvSpPr/>
          <p:nvPr/>
        </p:nvSpPr>
        <p:spPr>
          <a:xfrm>
            <a:off x="7452360" y="2670048"/>
            <a:ext cx="201168" cy="201168"/>
          </a:xfrm>
          <a:prstGeom prst="ellipse">
            <a:avLst/>
          </a:prstGeom>
          <a:solidFill>
            <a:srgbClr val="2F4B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773" y="3154680"/>
            <a:ext cx="1866053" cy="13258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72200" y="47091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NGS Data Scientist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55778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700" b="0" i="1">
                <a:solidFill>
                  <a:srgbClr val="5F5F5F"/>
                </a:solidFill>
                <a:latin typeface="Calibri"/>
              </a:rPr>
              <a:t>TIGEM Naples (Italy)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16002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2022–</a:t>
            </a:r>
          </a:p>
        </p:txBody>
      </p:sp>
      <p:sp>
        <p:nvSpPr>
          <p:cNvPr id="25" name="Oval 24"/>
          <p:cNvSpPr/>
          <p:nvPr/>
        </p:nvSpPr>
        <p:spPr>
          <a:xfrm>
            <a:off x="10287000" y="2670048"/>
            <a:ext cx="201168" cy="201168"/>
          </a:xfrm>
          <a:prstGeom prst="ellipse">
            <a:avLst/>
          </a:prstGeom>
          <a:solidFill>
            <a:srgbClr val="2F4B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3409150"/>
            <a:ext cx="2377440" cy="81693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006840" y="47091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Research Engineer in Bioinformatics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55778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700" b="0" i="1">
                <a:solidFill>
                  <a:srgbClr val="5F5F5F"/>
                </a:solidFill>
                <a:latin typeface="Calibri"/>
              </a:rPr>
              <a:t>ENS de Lyon (France)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Analysis hub at Spatial-Cell-ID (ENS de Lyon)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pic>
        <p:nvPicPr>
          <p:cNvPr id="8" name="Picture 7" descr="imag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10478"/>
            <a:ext cx="3566160" cy="136232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80" y="1051560"/>
            <a:ext cx="740664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New national spatial transcriptomics and single-cell RNA-Seq facility led by the École Normale Supérieure de Lyon.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D40119"/>
                </a:solidFill>
                <a:latin typeface="Calibri"/>
              </a:rPr>
              <a:t>Goal: </a:t>
            </a:r>
            <a:r>
              <a:rPr sz="1800" b="0">
                <a:solidFill>
                  <a:srgbClr val="222222"/>
                </a:solidFill>
                <a:latin typeface="Calibri"/>
              </a:rPr>
              <a:t>studying cellular identity and its spatial heterogeneity, through very recent developments in spatial transcriptomics.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017520"/>
            <a:ext cx="24688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63" y="3154680"/>
            <a:ext cx="2130433" cy="2103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4406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/>
              </a:rPr>
              <a:t>SLIDE-SEQ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3017520"/>
            <a:ext cx="24688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3422732"/>
            <a:ext cx="2194560" cy="156701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11880" y="54406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/>
              </a:rPr>
              <a:t>MERFISH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3017520"/>
            <a:ext cx="24688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3523538"/>
            <a:ext cx="2194560" cy="136540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46520" y="54406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/>
              </a:rPr>
              <a:t>SC-RNASEQ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3017520"/>
            <a:ext cx="24688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D401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0" y="3212060"/>
            <a:ext cx="2194560" cy="198835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281160" y="54406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/>
              </a:rPr>
              <a:t>DATA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course: 14 hours over two days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3611880" cy="49377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097280"/>
            <a:ext cx="3611880" cy="777240"/>
          </a:xfrm>
          <a:prstGeom prst="roundRect">
            <a:avLst>
              <a:gd name="adj" fmla="val 6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This lecture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0" i="1">
                <a:solidFill>
                  <a:srgbClr val="5F5F5F"/>
                </a:solidFill>
                <a:latin typeface="Calibri"/>
              </a:rPr>
              <a:t>Concepts and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3200400" cy="3474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Why single-cell?</a:t>
            </a:r>
          </a:p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Our case study: human skin wound healing</a:t>
            </a:r>
          </a:p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From tissue to count matrix</a:t>
            </a:r>
          </a:p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The analysis workflow, step by step</a:t>
            </a:r>
          </a:p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Tools and set-up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097280"/>
            <a:ext cx="3611880" cy="49377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25112" y="1097280"/>
            <a:ext cx="3611880" cy="777240"/>
          </a:xfrm>
          <a:prstGeom prst="roundRect">
            <a:avLst>
              <a:gd name="adj" fmla="val 6000"/>
            </a:avLst>
          </a:prstGeom>
          <a:solidFill>
            <a:srgbClr val="E8833A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Day 1 · Practical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116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0" i="1">
                <a:solidFill>
                  <a:srgbClr val="5F5F5F"/>
                </a:solidFill>
                <a:latin typeface="Calibri"/>
              </a:rPr>
              <a:t>From counts to clusters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560320"/>
            <a:ext cx="3200400" cy="3474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200"/>
              </a:spcAft>
              <a:buClr>
                <a:srgbClr val="E8833A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Loading 10x matrices and quality control</a:t>
            </a:r>
          </a:p>
          <a:p>
            <a:pPr algn="l" marL="219456" indent="-219456">
              <a:spcAft>
                <a:spcPts val="1200"/>
              </a:spcAft>
              <a:buClr>
                <a:srgbClr val="E8833A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Filtering, normalisation, highly variable genes</a:t>
            </a:r>
          </a:p>
          <a:p>
            <a:pPr algn="l" marL="219456" indent="-219456">
              <a:spcAft>
                <a:spcPts val="1200"/>
              </a:spcAft>
              <a:buClr>
                <a:srgbClr val="E8833A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PCA, neighbours, UMAP, Leiden clustering</a:t>
            </a:r>
          </a:p>
          <a:p>
            <a:pPr algn="l" marL="219456" indent="-219456">
              <a:spcAft>
                <a:spcPts val="1200"/>
              </a:spcAft>
              <a:buClr>
                <a:srgbClr val="E8833A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Batch effects and integration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7304" y="1097280"/>
            <a:ext cx="3611880" cy="49377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47304" y="1097280"/>
            <a:ext cx="3611880" cy="777240"/>
          </a:xfrm>
          <a:prstGeom prst="roundRect">
            <a:avLst>
              <a:gd name="adj" fmla="val 6000"/>
            </a:avLst>
          </a:prstGeom>
          <a:solidFill>
            <a:srgbClr val="2F4B7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Day 2 · Practical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0116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0" i="1">
                <a:solidFill>
                  <a:srgbClr val="5F5F5F"/>
                </a:solidFill>
                <a:latin typeface="Calibri"/>
              </a:rPr>
              <a:t>From clusters to biology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560320"/>
            <a:ext cx="3200400" cy="3474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200"/>
              </a:spcAft>
              <a:buClr>
                <a:srgbClr val="2F4B7C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Marker genes and cell-type annotation</a:t>
            </a:r>
          </a:p>
          <a:p>
            <a:pPr algn="l" marL="219456" indent="-219456">
              <a:spcAft>
                <a:spcPts val="1200"/>
              </a:spcAft>
              <a:buClr>
                <a:srgbClr val="2F4B7C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Comparing with the authors' annotation</a:t>
            </a:r>
          </a:p>
          <a:p>
            <a:pPr algn="l" marL="219456" indent="-219456">
              <a:spcAft>
                <a:spcPts val="1200"/>
              </a:spcAft>
              <a:buClr>
                <a:srgbClr val="2F4B7C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Differences across Skin, Wound1, Wound7, Wound30</a:t>
            </a:r>
          </a:p>
          <a:p>
            <a:pPr algn="l" marL="219456" indent="-219456">
              <a:spcAft>
                <a:spcPts val="1200"/>
              </a:spcAft>
              <a:buClr>
                <a:srgbClr val="2F4B7C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Trajectories of keratinocytes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192024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645920" cy="192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2331720"/>
            <a:ext cx="9052560" cy="192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Why single-cell RNA-seq?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4526280"/>
            <a:ext cx="90525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F5F5F"/>
                </a:solidFill>
                <a:latin typeface="Calibri"/>
              </a:rPr>
              <a:t>From bulk averages to the identity of every cell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Adding new dimensions to transcriptomics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Original organ</a:t>
            </a:r>
          </a:p>
        </p:txBody>
      </p:sp>
      <p:pic>
        <p:nvPicPr>
          <p:cNvPr id="9" name="Picture 8" descr="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567319"/>
            <a:ext cx="2651760" cy="2534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25196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Many cell types, organised in space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36392" y="2651760"/>
            <a:ext cx="237744" cy="365760"/>
          </a:xfrm>
          <a:prstGeom prst="rightArrow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00584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Bulk RNA-seq</a:t>
            </a:r>
          </a:p>
        </p:txBody>
      </p:sp>
      <p:pic>
        <p:nvPicPr>
          <p:cNvPr id="13" name="Picture 12" descr="image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508760"/>
            <a:ext cx="2651760" cy="2651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83280" y="425196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Everything is mixed: one averaged profile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62472" y="2651760"/>
            <a:ext cx="237744" cy="365760"/>
          </a:xfrm>
          <a:prstGeom prst="rightArrow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00584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Single-cell RNA-seq</a:t>
            </a:r>
          </a:p>
        </p:txBody>
      </p:sp>
      <p:pic>
        <p:nvPicPr>
          <p:cNvPr id="17" name="Picture 16" descr="image1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701016"/>
            <a:ext cx="2651760" cy="226724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09360" y="425196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Cells are separated: one profile per cell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988552" y="2651760"/>
            <a:ext cx="237744" cy="365760"/>
          </a:xfrm>
          <a:prstGeom prst="rightArrow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00584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Spatial transcriptomics</a:t>
            </a:r>
          </a:p>
        </p:txBody>
      </p:sp>
      <p:pic>
        <p:nvPicPr>
          <p:cNvPr id="21" name="Picture 20" descr="image1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1610402"/>
            <a:ext cx="2651760" cy="24484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35440" y="425196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Cell types and where they 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257800"/>
            <a:ext cx="11292840" cy="9601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257800"/>
            <a:ext cx="10789920" cy="9601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0119"/>
                </a:solidFill>
                <a:latin typeface="Calibri"/>
              </a:rPr>
              <a:t>Why it matters: </a:t>
            </a:r>
            <a:r>
              <a:rPr sz="1800" b="0">
                <a:solidFill>
                  <a:srgbClr val="222222"/>
                </a:solidFill>
                <a:latin typeface="Calibri"/>
              </a:rPr>
              <a:t>an average can hide the story. A change in bulk expression can mean fewer cells, more cells, or a different cell state, and bulk cannot tell them apart.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LEGO analogy from the 2025 lecture (original source to be credited).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single-cell resolution gives us, and what it costs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5486400" cy="3977639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25295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B7F79"/>
                </a:solidFill>
                <a:latin typeface="Calibri"/>
              </a:rPr>
              <a:t>Goals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73936"/>
            <a:ext cx="5120640" cy="3200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Explore which cell types are present in a tissue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Identify unknown or rare cell types and states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Find genes differentially expressed in a particular cell type, or even in a subpopulation of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486400" cy="3977639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25295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D40119"/>
                </a:solidFill>
                <a:latin typeface="Calibri"/>
              </a:rPr>
              <a:t>Challenges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73936"/>
            <a:ext cx="5120640" cy="3200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Large volume of data: tens of thousands of cells × tens of thousands of genes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Low sequencing depth per cell: most measurements are zero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Biological and technical variability across cells and samples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303520"/>
            <a:ext cx="11201400" cy="914400"/>
          </a:xfrm>
          <a:prstGeom prst="roundRect">
            <a:avLst>
              <a:gd name="adj" fmla="val 6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30352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Our question: </a:t>
            </a:r>
            <a:r>
              <a:rPr sz="2000" b="0">
                <a:solidFill>
                  <a:srgbClr val="FFFFFF"/>
                </a:solidFill>
                <a:latin typeface="Calibri"/>
              </a:rPr>
              <a:t>which cells enter a human skin wound, when, and what do they express as healing proceeds?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Application examples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pic>
        <p:nvPicPr>
          <p:cNvPr id="8" name="Picture 7" descr="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7668"/>
            <a:ext cx="6035040" cy="465698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66560" y="1097280"/>
            <a:ext cx="493776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225295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7F79"/>
                </a:solidFill>
                <a:latin typeface="Calibri"/>
              </a:rPr>
              <a:t>Example 1 · A cancer of unknown primary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048255"/>
            <a:ext cx="4572000" cy="1371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5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Subpopulations of cells migrating from the primary tumour to the metastasis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3703320"/>
            <a:ext cx="493776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3831335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Example 2 · Our case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4654295"/>
            <a:ext cx="4572000" cy="1371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5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Clustering reveals states such as migrating keratinocytes at the wound edge, which a bulk average cannot resolve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Figure: Aldridge &amp; Teichmann, Nat Commun 11:4307 (2020). Wound-healing example: Liu et al., Cell Stem Cell 32:479 (2025).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Single-cell technologies scale exponentially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pic>
        <p:nvPicPr>
          <p:cNvPr id="8" name="Picture 7" descr="image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69630"/>
            <a:ext cx="10881360" cy="52387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Svensson, Vento-Tormo &amp; Teichmann, Nat Protoc 13:599–604 (2018).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Many protocols, one focus: droplets and 3′ tags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pic>
        <p:nvPicPr>
          <p:cNvPr id="8" name="Picture 7" descr="imag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9987"/>
            <a:ext cx="4846320" cy="523806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577840" y="1097280"/>
            <a:ext cx="6126480" cy="15544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1225295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B7F79"/>
                </a:solidFill>
                <a:latin typeface="Calibri"/>
              </a:rPr>
              <a:t>Plate-based, full-length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682495"/>
            <a:ext cx="576072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5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Smart-seq2 and relatives: deep coverage of each transcript, but few cells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2788920"/>
            <a:ext cx="6126480" cy="15544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2916936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E8833A"/>
                </a:solidFill>
                <a:latin typeface="Calibri"/>
              </a:rPr>
              <a:t>Droplet-based, 3′-tag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374136"/>
            <a:ext cx="576072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5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Drop-seq, Chromium: thousands of cells, UMIs, shallow depth per cell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4526280"/>
            <a:ext cx="6126480" cy="1600200"/>
          </a:xfrm>
          <a:prstGeom prst="roundRect">
            <a:avLst>
              <a:gd name="adj" fmla="val 6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80"/>
            <a:ext cx="5577840" cy="1600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Our focus: </a:t>
            </a:r>
            <a:r>
              <a:rPr sz="2200" b="0">
                <a:solidFill>
                  <a:srgbClr val="FFFFFF"/>
                </a:solidFill>
                <a:latin typeface="Calibri"/>
              </a:rPr>
              <a:t>10x Genomics Chromium 3′, the technology used in our case study.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Table: Chen, Ning &amp; Shi, Front Genet 10:317 (2019).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192024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645920" cy="192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2331720"/>
            <a:ext cx="9052560" cy="192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Our case study: human skin wound healing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4526280"/>
            <a:ext cx="90525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F5F5F"/>
                </a:solidFill>
                <a:latin typeface="Calibri"/>
              </a:rPr>
              <a:t>The paper, the biology and the data behind the practicals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Wound healing: three overlapping phases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2697480" cy="1005840"/>
          </a:xfrm>
          <a:prstGeom prst="roundRect">
            <a:avLst>
              <a:gd name="adj" fmla="val 8000"/>
            </a:avLst>
          </a:prstGeom>
          <a:solidFill>
            <a:srgbClr val="9AA5B1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Skin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Day 0 · Intact skin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94560"/>
            <a:ext cx="2697480" cy="26517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2331720" cy="2468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9AA5B1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Baseline epidermis and dermis</a:t>
            </a:r>
          </a:p>
          <a:p>
            <a:pPr algn="l" marL="219456" indent="-219456">
              <a:spcAft>
                <a:spcPts val="1000"/>
              </a:spcAft>
              <a:buClr>
                <a:srgbClr val="9AA5B1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The reference for every comparison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72968" y="1417320"/>
            <a:ext cx="164592" cy="365760"/>
          </a:xfrm>
          <a:prstGeom prst="rightArrow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37560" y="1097280"/>
            <a:ext cx="2697480" cy="1005840"/>
          </a:xfrm>
          <a:prstGeom prst="roundRect">
            <a:avLst>
              <a:gd name="adj" fmla="val 8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Wound1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Day 1 · Inflammation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194560"/>
            <a:ext cx="2697480" cy="26517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331720"/>
            <a:ext cx="2331720" cy="2468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Neutrophils and pro-inflammatory macrophages arrive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Keratinocytes at the wound edge start to migrate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53328" y="1417320"/>
            <a:ext cx="164592" cy="365760"/>
          </a:xfrm>
          <a:prstGeom prst="rightArrow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097280"/>
            <a:ext cx="2697480" cy="1005840"/>
          </a:xfrm>
          <a:prstGeom prst="roundRect">
            <a:avLst>
              <a:gd name="adj" fmla="val 8000"/>
            </a:avLst>
          </a:prstGeom>
          <a:solidFill>
            <a:srgbClr val="E8833A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Wound7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Day 7 · Proliferation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194560"/>
            <a:ext cx="2697480" cy="26517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331720"/>
            <a:ext cx="2331720" cy="2468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E8833A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Proliferating keratinocytes and fibroblasts</a:t>
            </a:r>
          </a:p>
          <a:p>
            <a:pPr algn="l" marL="219456" indent="-219456">
              <a:spcAft>
                <a:spcPts val="1000"/>
              </a:spcAft>
              <a:buClr>
                <a:srgbClr val="E8833A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Re-epithelialisation, granulation tissue, new capillaries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933688" y="1417320"/>
            <a:ext cx="164592" cy="365760"/>
          </a:xfrm>
          <a:prstGeom prst="rightArrow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98280" y="1097280"/>
            <a:ext cx="2697480" cy="1005840"/>
          </a:xfrm>
          <a:prstGeom prst="roundRect">
            <a:avLst>
              <a:gd name="adj" fmla="val 8000"/>
            </a:avLst>
          </a:prstGeom>
          <a:solidFill>
            <a:srgbClr val="2F4B7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Wound30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Day 30 · Remodelling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2194560"/>
            <a:ext cx="2697480" cy="26517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59" y="2331720"/>
            <a:ext cx="2331720" cy="2468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2F4B7C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Mesenchymal fibroblasts dominate the wound bed</a:t>
            </a:r>
          </a:p>
          <a:p>
            <a:pPr algn="l" marL="219456" indent="-219456">
              <a:spcAft>
                <a:spcPts val="1000"/>
              </a:spcAft>
              <a:buClr>
                <a:srgbClr val="2F4B7C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Extracellular matrix remodelling and scar formation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074920"/>
            <a:ext cx="112928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D401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074920"/>
            <a:ext cx="10789920" cy="1143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Why it matters: </a:t>
            </a:r>
            <a:r>
              <a:rPr sz="2000" b="0">
                <a:solidFill>
                  <a:srgbClr val="222222"/>
                </a:solidFill>
                <a:latin typeface="Calibri"/>
              </a:rPr>
              <a:t>failed re-epithelialisation is a hallmark of chronic wounds such as venous ulcers and diabetic foot ulcers, which affect millions of people every year.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Liu et al., Cell Stem Cell 32:479–498 (2025).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Study design: the same individuals, four time points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5120640" cy="5029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Healthy volunteers: 4-mm full-thickness wounds on the upper buttock</a:t>
            </a:r>
          </a:p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6-mm biopsies of the wound edge at day 1, 7 and 30, plus intact skin</a:t>
            </a:r>
          </a:p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Each donor is their own control over time</a:t>
            </a:r>
          </a:p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scRNA-seq: 3 donors × 4 time points = 12 samples</a:t>
            </a:r>
          </a:p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Chromium Next GEM 3′ v3.1, Illumina NovaSeq 6000, about 50,000 read pairs per cell</a:t>
            </a:r>
          </a:p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Data: GEO accession GSE241132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0" y="1234440"/>
          <a:ext cx="5760717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59876"/>
                <a:gridCol w="773251"/>
                <a:gridCol w="966563"/>
                <a:gridCol w="966563"/>
                <a:gridCol w="1043888"/>
                <a:gridCol w="850576"/>
              </a:tblGrid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Cells</a:t>
                      </a:r>
                    </a:p>
                  </a:txBody>
                  <a:tcPr marL="91440" marR="91440" marT="36576" marB="36576" anchor="ctr">
                    <a:solidFill>
                      <a:srgbClr val="D401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Skin</a:t>
                      </a:r>
                    </a:p>
                  </a:txBody>
                  <a:tcPr marL="91440" marR="91440" marT="36576" marB="36576" anchor="ctr">
                    <a:solidFill>
                      <a:srgbClr val="D401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Wound1</a:t>
                      </a:r>
                    </a:p>
                  </a:txBody>
                  <a:tcPr marL="91440" marR="91440" marT="36576" marB="36576" anchor="ctr">
                    <a:solidFill>
                      <a:srgbClr val="D401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Wound7</a:t>
                      </a:r>
                    </a:p>
                  </a:txBody>
                  <a:tcPr marL="91440" marR="91440" marT="36576" marB="36576" anchor="ctr">
                    <a:solidFill>
                      <a:srgbClr val="D401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Wound30</a:t>
                      </a:r>
                    </a:p>
                  </a:txBody>
                  <a:tcPr marL="91440" marR="91440" marT="36576" marB="36576" anchor="ctr">
                    <a:solidFill>
                      <a:srgbClr val="D401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91440" marR="91440" marT="36576" marB="36576" anchor="ctr">
                    <a:solidFill>
                      <a:srgbClr val="D4011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22222"/>
                          </a:solidFill>
                          <a:latin typeface="Calibri"/>
                        </a:rPr>
                        <a:t>PWH26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4,242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4,709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4,483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3,408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16,842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22222"/>
                          </a:solidFill>
                          <a:latin typeface="Calibri"/>
                        </a:rPr>
                        <a:t>PWH27</a:t>
                      </a:r>
                    </a:p>
                  </a:txBody>
                  <a:tcPr marL="91440" marR="91440" marT="36576" marB="36576" anchor="ctr">
                    <a:solidFill>
                      <a:srgbClr val="FBE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3,265</a:t>
                      </a:r>
                    </a:p>
                  </a:txBody>
                  <a:tcPr marL="91440" marR="91440" marT="36576" marB="36576" anchor="ctr">
                    <a:solidFill>
                      <a:srgbClr val="FBE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6,491</a:t>
                      </a:r>
                    </a:p>
                  </a:txBody>
                  <a:tcPr marL="91440" marR="91440" marT="36576" marB="36576" anchor="ctr">
                    <a:solidFill>
                      <a:srgbClr val="FBE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6,518</a:t>
                      </a:r>
                    </a:p>
                  </a:txBody>
                  <a:tcPr marL="91440" marR="91440" marT="36576" marB="36576" anchor="ctr">
                    <a:solidFill>
                      <a:srgbClr val="FBE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5,953</a:t>
                      </a:r>
                    </a:p>
                  </a:txBody>
                  <a:tcPr marL="91440" marR="91440" marT="36576" marB="36576" anchor="ctr">
                    <a:solidFill>
                      <a:srgbClr val="FBE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22,227</a:t>
                      </a:r>
                    </a:p>
                  </a:txBody>
                  <a:tcPr marL="91440" marR="91440" marT="36576" marB="36576" anchor="ctr">
                    <a:solidFill>
                      <a:srgbClr val="FBE3E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22222"/>
                          </a:solidFill>
                          <a:latin typeface="Calibri"/>
                        </a:rPr>
                        <a:t>PWH28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4,083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4,578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5,358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5,735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19,754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22222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11,590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15,778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16,359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15,096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58,823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43600" y="4206240"/>
            <a:ext cx="576072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D40119"/>
                </a:solidFill>
                <a:latin typeface="Calibri"/>
              </a:rPr>
              <a:t>Highlighted: </a:t>
            </a:r>
            <a:r>
              <a:rPr sz="1700" b="0">
                <a:solidFill>
                  <a:srgbClr val="222222"/>
                </a:solidFill>
                <a:latin typeface="Calibri"/>
              </a:rPr>
              <a:t>PWH27, the donor we analyse in the practicals (22,227 cells).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5120640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F5F5F"/>
                </a:solidFill>
                <a:latin typeface="Calibri"/>
              </a:rPr>
              <a:t>A parallel Visium spatial dataset exists for the same study, but it is not part of this course.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Liu et al. 2025 (STAR Methods). Cell counts computed from the GSE241132 cell metadata (cells retained by the authors).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in the data? Composition changes with healing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16152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40119"/>
                </a:solidFill>
                <a:latin typeface="Calibri"/>
              </a:rPr>
              <a:t>58,823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5F5F"/>
                </a:solidFill>
                <a:latin typeface="Calibri"/>
              </a:rPr>
              <a:t>cells after QC and doublet removal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4320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816352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40119"/>
                </a:solidFill>
                <a:latin typeface="Calibri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84448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5F5F"/>
                </a:solidFill>
                <a:latin typeface="Calibri"/>
              </a:rPr>
              <a:t>samples: 3 donors × 4 time 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34340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416552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40119"/>
                </a:solidFill>
                <a:latin typeface="Calibri"/>
              </a:rPr>
              <a:t>27 →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184648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5F5F"/>
                </a:solidFill>
                <a:latin typeface="Calibri"/>
              </a:rPr>
              <a:t>clusters grouped into main cell types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389120" y="1051560"/>
          <a:ext cx="74066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389120" y="5669280"/>
            <a:ext cx="74066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5F5F"/>
                </a:solidFill>
                <a:latin typeface="Calibri"/>
              </a:rPr>
              <a:t>Donor PWH27, authors' annotation. Keratinocytes rise to 69% at Wound1; fibroblasts grow to 35% by Wound30. 'Other': endothelial, hair follicle, mast, melanocyte, pericyte/smooth muscle, Schwann.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Computed from GSE241132 cell metadata (columns Condition, newMainCellTypes); clusters and main types from Liu et al. 2025.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roadmap: a UMAP of 58,823 cells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8" name="FIGSLOT Liu et al. 2025, Figure 1B–C"/>
          <p:cNvSpPr/>
          <p:nvPr/>
        </p:nvSpPr>
        <p:spPr>
          <a:xfrm>
            <a:off x="457200" y="960120"/>
            <a:ext cx="7680960" cy="534924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5875">
            <a:solidFill>
              <a:srgbClr val="B0B0B0"/>
            </a:solidFill>
            <a:prstDash val="dash"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A8A8A"/>
                </a:solidFill>
                <a:latin typeface="Calibri"/>
              </a:rPr>
              <a:t>FIGURE TO INSERT</a:t>
            </a:r>
          </a:p>
          <a:p>
            <a:pPr algn="ctr">
              <a:spcAft>
                <a:spcPts val="400"/>
              </a:spcAft>
            </a:pPr>
            <a:r>
              <a:rPr sz="2200" b="1">
                <a:solidFill>
                  <a:srgbClr val="D40119"/>
                </a:solidFill>
                <a:latin typeface="Calibri"/>
              </a:rPr>
              <a:t>Liu et al. 2025, Figure 1B–C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8A8A8A"/>
                </a:solidFill>
                <a:latin typeface="Calibri"/>
              </a:rPr>
              <a:t>UMAP of the acute-wound scRNA-seq data and cluster dendrogram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097280"/>
            <a:ext cx="3291840" cy="50292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59" y="1225295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How to read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59" y="1682495"/>
            <a:ext cx="2926080" cy="434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Each dot is one cell</a:t>
            </a:r>
          </a:p>
          <a:p>
            <a:pPr algn="l" marL="219456" indent="-219456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Nearby cells have similar expression</a:t>
            </a:r>
          </a:p>
          <a:p>
            <a:pPr algn="l" marL="219456" indent="-219456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27 clusters, coloured by 9 main cell types</a:t>
            </a:r>
          </a:p>
          <a:p>
            <a:pPr algn="l" marL="219456" indent="-219456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Keratinocytes and fibroblasts are the largest groups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Figure: Liu et al., Cell Stem Cell 32:479–498 (2025), CC BY 4.0.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the paper found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280160"/>
            <a:ext cx="502920" cy="50292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261872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Migrating keratinocytes at the wound 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49834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Basal and spinous migrating clusters (Bas-mig, Spi-mig) peak at Wound1. They express KRT6A, MMPs, HBEGF; FOSL1 emerges as a key driver of migration.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097280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80" y="1280160"/>
            <a:ext cx="502920" cy="50292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261872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A relay race between cell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11680"/>
            <a:ext cx="49834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Pro-inflammatory macrophages (CXCL1, EREG) support migration in the inflammatory phase; proliferating fibroblasts (HGF, FGF2, TGFB1) take over at day 7.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03320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" y="3886200"/>
            <a:ext cx="502920" cy="50292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67911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Fibroblast states shift over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17720"/>
            <a:ext cx="49834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Proliferating fibroblasts appear at Wound7; mesenchymal fibroblasts (POSTN+) dominate the wound bed at Wound30.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703320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80" y="3886200"/>
            <a:ext cx="502920" cy="50292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867911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Chronic wounds fail differently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617720"/>
            <a:ext cx="49834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Venous and diabetic foot ulcers lack migrating keratinocytes and show weaker inflammatory responses than acute wounds.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Liu et al., Cell Stem Cell 32:479–498 (2025). In the practical we look for these populations ourselves.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Zooming in: keratinocyte states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8" name="FIGSLOT Liu et al. 2025, Figure 2A–C"/>
          <p:cNvSpPr/>
          <p:nvPr/>
        </p:nvSpPr>
        <p:spPr>
          <a:xfrm>
            <a:off x="457200" y="960120"/>
            <a:ext cx="7680960" cy="534924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5875">
            <a:solidFill>
              <a:srgbClr val="B0B0B0"/>
            </a:solidFill>
            <a:prstDash val="dash"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A8A8A"/>
                </a:solidFill>
                <a:latin typeface="Calibri"/>
              </a:rPr>
              <a:t>FIGURE TO INSERT</a:t>
            </a:r>
          </a:p>
          <a:p>
            <a:pPr algn="ctr">
              <a:spcAft>
                <a:spcPts val="400"/>
              </a:spcAft>
            </a:pPr>
            <a:r>
              <a:rPr sz="2200" b="1">
                <a:solidFill>
                  <a:srgbClr val="D40119"/>
                </a:solidFill>
                <a:latin typeface="Calibri"/>
              </a:rPr>
              <a:t>Liu et al. 2025, Figure 2A–C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8A8A8A"/>
                </a:solidFill>
                <a:latin typeface="Calibri"/>
              </a:rPr>
              <a:t>Keratinocyte subclusters, marker dot plot and cell proportions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097280"/>
            <a:ext cx="3291840" cy="50292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59" y="1225295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Nine subclusters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59" y="1682495"/>
            <a:ext cx="2926080" cy="434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3 basal: Bas-I, Bas-prolif, Bas-mig</a:t>
            </a:r>
          </a:p>
          <a:p>
            <a:pPr algn="l" marL="219456" indent="-219456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5 spinous, including Spi-mig</a:t>
            </a:r>
          </a:p>
          <a:p>
            <a:pPr algn="l" marL="219456" indent="-219456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1 granular (FLG, LORICRIN)</a:t>
            </a:r>
          </a:p>
          <a:p>
            <a:pPr algn="l" marL="219456" indent="-219456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Migrating clusters express MMPs, FGFBP1, KRT6, S100 genes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Figure: Liu et al., Cell Stem Cell 32:479–498 (2025), CC BY 4.0.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192024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645920" cy="192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2331720"/>
            <a:ext cx="9052560" cy="192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From tissue to count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4526280"/>
            <a:ext cx="90525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F5F5F"/>
                </a:solidFill>
                <a:latin typeface="Calibri"/>
              </a:rPr>
              <a:t>Dissociation, droplets, reads and 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Tissue dissociation: the first source of bias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2148840" cy="2148840"/>
          </a:xfrm>
          <a:prstGeom prst="roundRect">
            <a:avLst>
              <a:gd name="adj" fmla="val 8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928" y="125272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1874519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Dispase II, 4 °C overnight: separate epidermis from dermis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143000"/>
            <a:ext cx="2148840" cy="2148840"/>
          </a:xfrm>
          <a:prstGeom prst="roundRect">
            <a:avLst>
              <a:gd name="adj" fmla="val 8000"/>
            </a:avLst>
          </a:prstGeom>
          <a:solidFill>
            <a:srgbClr val="E883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52928" y="125272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1783080"/>
            <a:ext cx="1874519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Epidermis: trypsin/EDTA. Dermis: whole-skin dissociation kit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143000"/>
            <a:ext cx="2148840" cy="2148840"/>
          </a:xfrm>
          <a:prstGeom prst="roundRect">
            <a:avLst>
              <a:gd name="adj" fmla="val 8000"/>
            </a:avLst>
          </a:prstGeom>
          <a:solidFill>
            <a:srgbClr val="1B7F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38928" y="125272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1783080"/>
            <a:ext cx="1874519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Mix equal amounts of epidermal and dermal cells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143000"/>
            <a:ext cx="2148840" cy="2148840"/>
          </a:xfrm>
          <a:prstGeom prst="roundRect">
            <a:avLst>
              <a:gd name="adj" fmla="val 8000"/>
            </a:avLst>
          </a:prstGeom>
          <a:solidFill>
            <a:srgbClr val="2F4B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24927" y="125272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1783080"/>
            <a:ext cx="1874519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Remove red blood cells and dead cells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1143000"/>
            <a:ext cx="2148840" cy="2148840"/>
          </a:xfrm>
          <a:prstGeom prst="roundRect">
            <a:avLst>
              <a:gd name="adj" fmla="val 8000"/>
            </a:avLst>
          </a:prstGeom>
          <a:solidFill>
            <a:srgbClr val="8E5EA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10928" y="125272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1783080"/>
            <a:ext cx="1874519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Load on the Chromium controller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611880"/>
            <a:ext cx="5486400" cy="25603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73989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0119"/>
                </a:solidFill>
                <a:latin typeface="Calibri"/>
              </a:rPr>
              <a:t>Why it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97096"/>
            <a:ext cx="5120640" cy="18745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Cell types do not survive dissociation equally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The composition of the data is not the composition of the tissue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611880"/>
            <a:ext cx="5486400" cy="25603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73989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B7F79"/>
                </a:solidFill>
                <a:latin typeface="Calibri"/>
              </a:rPr>
              <a:t>An example from the paper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197096"/>
            <a:ext cx="5120640" cy="18745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Neutrophils have low RNA content and high RNase levels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The standard pipeline missed them; the authors recovered them from the unfiltered matrices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Liu et al., Cell Stem Cell 32:479–498 (2025), STAR Methods.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10x Genomics Chromium workflow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pic>
        <p:nvPicPr>
          <p:cNvPr id="8" name="Picture 7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4631022" cy="54864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5486400" y="1097280"/>
            <a:ext cx="548640" cy="54864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0515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Droplets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435607"/>
            <a:ext cx="53949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Single cells, barcoded gel beads and oil form Gel Beads-in-Emulsion (GEMs); each GEM carries a unique cell barcode.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0" y="2395727"/>
            <a:ext cx="548640" cy="54864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350008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Barcoded cDNA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734056"/>
            <a:ext cx="53949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Inside each GEM the cell is lysed and mRNA is reverse-transcribed; every cDNA gets the cell barcode and a UMI.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0" y="3694176"/>
            <a:ext cx="548640" cy="54864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648456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Amplification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032504"/>
            <a:ext cx="53949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GEMs are broken, cDNA is pooled and amplified by PCR.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0" y="4992624"/>
            <a:ext cx="548640" cy="54864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946904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Sequencing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5330952"/>
            <a:ext cx="53949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Libraries are prepared and sequenced on Illumina platforms.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Figure: Ren et al., Sci Data (2023), as cited in the 2025 lecture: reference to be verified.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Structure of the sequencing reads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Read 1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828800"/>
            <a:ext cx="1350385" cy="54864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Cell barcode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27825" y="1828800"/>
            <a:ext cx="1012789" cy="54864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UMI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7775" y="182880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F5F5F"/>
                </a:solidFill>
                <a:latin typeface="Calibri"/>
              </a:rPr>
              <a:t>28 bp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8036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Read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880360"/>
            <a:ext cx="7680319" cy="548640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cDNA: 3′ end of the transcript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4919" y="288036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F5F5F"/>
                </a:solidFill>
                <a:latin typeface="Calibri"/>
              </a:rPr>
              <a:t>about 90 bp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Index 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3931920"/>
            <a:ext cx="675192" cy="548640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89792" y="39319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F5F5F"/>
                </a:solidFill>
                <a:latin typeface="Calibri"/>
              </a:rPr>
              <a:t>8 bp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9204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5604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D40119"/>
                </a:solidFill>
                <a:latin typeface="Calibri"/>
              </a:rPr>
              <a:t>Cell barcode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49240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Which cell (droplet) did this molecule come from?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489204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495604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8833A"/>
                </a:solidFill>
                <a:latin typeface="Calibri"/>
              </a:rPr>
              <a:t>UMI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5349240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Which original mRNA molecule? Lets us collapse PCR duplicates.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89204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495604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7F79"/>
                </a:solidFill>
                <a:latin typeface="Calibri"/>
              </a:rPr>
              <a:t>cDNA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349240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Which gene? Mapped to the reference genome.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489204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495604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9AA5B1"/>
                </a:solidFill>
                <a:latin typeface="Calibri"/>
              </a:rPr>
              <a:t>Sample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5349240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Which library? Demultiplexes pooled samples.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Chromium Next GEM 3′ v3.1 layout (16-bp barcode + 12-bp UMI). Schematic, not to scale for read 2.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UMIs matter: counting molecules, not reads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ACTB · cell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280160"/>
            <a:ext cx="1234440" cy="457200"/>
          </a:xfrm>
          <a:prstGeom prst="roundRect">
            <a:avLst>
              <a:gd name="adj" fmla="val 15000"/>
            </a:avLst>
          </a:prstGeom>
          <a:solidFill>
            <a:srgbClr val="1B7F7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urier New"/>
              </a:rPr>
              <a:t>AGTTGTA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280160"/>
            <a:ext cx="1234440" cy="457200"/>
          </a:xfrm>
          <a:prstGeom prst="roundRect">
            <a:avLst>
              <a:gd name="adj" fmla="val 15000"/>
            </a:avLst>
          </a:prstGeom>
          <a:solidFill>
            <a:srgbClr val="1B7F7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urier New"/>
              </a:rPr>
              <a:t>AGTTGTA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280160"/>
            <a:ext cx="1234440" cy="457200"/>
          </a:xfrm>
          <a:prstGeom prst="roundRect">
            <a:avLst>
              <a:gd name="adj" fmla="val 15000"/>
            </a:avLst>
          </a:prstGeom>
          <a:solidFill>
            <a:srgbClr val="1B7F7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urier New"/>
              </a:rPr>
              <a:t>AGTTGTA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031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ARL1 · cell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2103120"/>
            <a:ext cx="1234440" cy="457200"/>
          </a:xfrm>
          <a:prstGeom prst="roundRect">
            <a:avLst>
              <a:gd name="adj" fmla="val 15000"/>
            </a:avLst>
          </a:prstGeom>
          <a:solidFill>
            <a:srgbClr val="E8833A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urier New"/>
              </a:rPr>
              <a:t>ACTTGTG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2103120"/>
            <a:ext cx="1234440" cy="457200"/>
          </a:xfrm>
          <a:prstGeom prst="roundRect">
            <a:avLst>
              <a:gd name="adj" fmla="val 15000"/>
            </a:avLst>
          </a:prstGeom>
          <a:solidFill>
            <a:srgbClr val="E8833A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urier New"/>
              </a:rPr>
              <a:t>ACTTGTG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974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ARL1 · cell 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2697480"/>
            <a:ext cx="1234440" cy="457200"/>
          </a:xfrm>
          <a:prstGeom prst="roundRect">
            <a:avLst>
              <a:gd name="adj" fmla="val 15000"/>
            </a:avLst>
          </a:prstGeom>
          <a:solidFill>
            <a:srgbClr val="8E5EA2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urier New"/>
              </a:rPr>
              <a:t>TTCGTCT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77639" y="2697480"/>
            <a:ext cx="1234440" cy="457200"/>
          </a:xfrm>
          <a:prstGeom prst="roundRect">
            <a:avLst>
              <a:gd name="adj" fmla="val 15000"/>
            </a:avLst>
          </a:prstGeom>
          <a:solidFill>
            <a:srgbClr val="8E5EA2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urier New"/>
              </a:rPr>
              <a:t>TTCGTCT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28016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3 reads → 1 molecule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2103120"/>
            <a:ext cx="21945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4 reads → 2 molecules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123444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B7F79"/>
                </a:solidFill>
                <a:latin typeface="Calibri"/>
              </a:rPr>
              <a:t>count =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2103120"/>
            <a:ext cx="2103120" cy="10515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E8833A"/>
                </a:solidFill>
                <a:latin typeface="Calibri"/>
              </a:rPr>
              <a:t>count =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566160"/>
            <a:ext cx="5486400" cy="26060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69417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0119"/>
                </a:solidFill>
                <a:latin typeface="Calibri"/>
              </a:rPr>
              <a:t>Without UMIs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151376"/>
            <a:ext cx="5120640" cy="1920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PCR amplifies molecules unevenly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Read counts reflect amplification bias as much as expression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566160"/>
            <a:ext cx="5486400" cy="26060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69417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B7F79"/>
                </a:solidFill>
                <a:latin typeface="Calibri"/>
              </a:rPr>
              <a:t>With UMIs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151376"/>
            <a:ext cx="5120640" cy="1920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Reads with the same barcode, UMI and gene are one molecule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The count matrix holds UMI counts per cell and gene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Schematic; UMI sequences are illustrative.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 of sequencing: FASTQ files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6035040" cy="201168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80160"/>
            <a:ext cx="5669279" cy="1737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9CDCFE"/>
                </a:solidFill>
                <a:latin typeface="Courier New"/>
              </a:rPr>
              <a:t>@SRR1234567.1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CE9178"/>
                </a:solidFill>
                <a:latin typeface="Courier New"/>
              </a:rPr>
              <a:t>ACGTACGTACGTACGTACGTACGTACGTACGT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D4D4D4"/>
                </a:solidFill>
                <a:latin typeface="Courier New"/>
              </a:rPr>
              <a:t>+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B5CEA8"/>
                </a:solidFill>
                <a:latin typeface="Courier New"/>
              </a:rPr>
              <a:t>!''*((((***+))%%%++)(%%%%).1***-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143000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9A6700"/>
                </a:solidFill>
                <a:latin typeface="Calibri"/>
              </a:rPr>
              <a:t>Line 1  </a:t>
            </a:r>
            <a:r>
              <a:rPr sz="1900" b="0">
                <a:solidFill>
                  <a:srgbClr val="222222"/>
                </a:solidFill>
                <a:latin typeface="Calibri"/>
              </a:rPr>
              <a:t>read identifier, starts with @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9A6700"/>
                </a:solidFill>
                <a:latin typeface="Calibri"/>
              </a:rPr>
              <a:t>Line 2  </a:t>
            </a:r>
            <a:r>
              <a:rPr sz="1900" b="0">
                <a:solidFill>
                  <a:srgbClr val="222222"/>
                </a:solidFill>
                <a:latin typeface="Calibri"/>
              </a:rPr>
              <a:t>nucleotide sequence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9A6700"/>
                </a:solidFill>
                <a:latin typeface="Calibri"/>
              </a:rPr>
              <a:t>Line 3  </a:t>
            </a:r>
            <a:r>
              <a:rPr sz="1900" b="0">
                <a:solidFill>
                  <a:srgbClr val="222222"/>
                </a:solidFill>
                <a:latin typeface="Calibri"/>
              </a:rPr>
              <a:t>separator, starts with +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9A6700"/>
                </a:solidFill>
                <a:latin typeface="Calibri"/>
              </a:rPr>
              <a:t>Line 4  </a:t>
            </a:r>
            <a:r>
              <a:rPr sz="1900" b="0">
                <a:solidFill>
                  <a:srgbClr val="222222"/>
                </a:solidFill>
                <a:latin typeface="Calibri"/>
              </a:rPr>
              <a:t>quality scores, one ASCII character per 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520440"/>
            <a:ext cx="11201400" cy="26517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1188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D40119"/>
                </a:solidFill>
                <a:latin typeface="Calibri"/>
              </a:rPr>
              <a:t>Phred quality score:   Q = −10 · log₁₀(P)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3484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2200" b="0">
                <a:solidFill>
                  <a:srgbClr val="222222"/>
                </a:solidFill>
                <a:latin typeface="Calibri"/>
              </a:rPr>
              <a:t>P is the probability that the base call is wrong</a:t>
            </a:r>
          </a:p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2200" b="0">
                <a:solidFill>
                  <a:srgbClr val="222222"/>
                </a:solidFill>
                <a:latin typeface="Calibri"/>
              </a:rPr>
              <a:t>Q = 30: 1 error in 1,000 calls (99.9% accuracy)</a:t>
            </a:r>
          </a:p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2200" b="0">
                <a:solidFill>
                  <a:srgbClr val="222222"/>
                </a:solidFill>
                <a:latin typeface="Calibri"/>
              </a:rPr>
              <a:t>Q = 20: 1 error in 100 calls (99% accuracy)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reads to a count matrix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8" name="Pentagon 7"/>
          <p:cNvSpPr/>
          <p:nvPr/>
        </p:nvSpPr>
        <p:spPr>
          <a:xfrm>
            <a:off x="457200" y="1188720"/>
            <a:ext cx="2194560" cy="1143000"/>
          </a:xfrm>
          <a:prstGeom prst="homePlate">
            <a:avLst/>
          </a:prstGeom>
          <a:solidFill>
            <a:srgbClr val="2F4B7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FASTQ files</a:t>
            </a:r>
          </a:p>
        </p:txBody>
      </p:sp>
      <p:sp>
        <p:nvSpPr>
          <p:cNvPr id="9" name="Pentagon 8"/>
          <p:cNvSpPr/>
          <p:nvPr/>
        </p:nvSpPr>
        <p:spPr>
          <a:xfrm>
            <a:off x="2743200" y="1188720"/>
            <a:ext cx="2194560" cy="1143000"/>
          </a:xfrm>
          <a:prstGeom prst="homePlate">
            <a:avLst/>
          </a:prstGeom>
          <a:solidFill>
            <a:srgbClr val="1B7F7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Barcode and UMI processing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029200" y="1188720"/>
            <a:ext cx="2194560" cy="1143000"/>
          </a:xfrm>
          <a:prstGeom prst="homePlate">
            <a:avLst/>
          </a:prstGeom>
          <a:solidFill>
            <a:srgbClr val="E8833A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Alignment to the reference genome</a:t>
            </a:r>
          </a:p>
        </p:txBody>
      </p:sp>
      <p:sp>
        <p:nvSpPr>
          <p:cNvPr id="11" name="Pentagon 10"/>
          <p:cNvSpPr/>
          <p:nvPr/>
        </p:nvSpPr>
        <p:spPr>
          <a:xfrm>
            <a:off x="7315200" y="1188720"/>
            <a:ext cx="2194560" cy="1143000"/>
          </a:xfrm>
          <a:prstGeom prst="homePlate">
            <a:avLst/>
          </a:prstGeom>
          <a:solidFill>
            <a:srgbClr val="8E5EA2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UMI counting per cell and gene</a:t>
            </a:r>
          </a:p>
        </p:txBody>
      </p:sp>
      <p:sp>
        <p:nvSpPr>
          <p:cNvPr id="12" name="Pentagon 11"/>
          <p:cNvSpPr/>
          <p:nvPr/>
        </p:nvSpPr>
        <p:spPr>
          <a:xfrm>
            <a:off x="9601200" y="1188720"/>
            <a:ext cx="2194560" cy="1143000"/>
          </a:xfrm>
          <a:prstGeom prst="homePlat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Cell calling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97480"/>
            <a:ext cx="5486400" cy="22402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2549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0119"/>
                </a:solidFill>
                <a:latin typeface="Calibri"/>
              </a:rPr>
              <a:t>CellRanger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82696"/>
            <a:ext cx="512064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10x Genomics, commercial and widely used, very simple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Used in the paper: v5.0.1, GRCh38 with GENCODE v38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697480"/>
            <a:ext cx="5486400" cy="22402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82549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B7F79"/>
                </a:solidFill>
                <a:latin typeface="Calibri"/>
              </a:rPr>
              <a:t>Open-source alternatives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82696"/>
            <a:ext cx="512064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STARsolo, alevin-fry, kallisto | bustools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Recommended when you want full control or reproducibility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12080"/>
            <a:ext cx="11201400" cy="1005840"/>
          </a:xfrm>
          <a:prstGeom prst="roundRect">
            <a:avLst>
              <a:gd name="adj" fmla="val 6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1208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Output: </a:t>
            </a:r>
            <a:r>
              <a:rPr sz="2100" b="0">
                <a:solidFill>
                  <a:srgbClr val="FFFFFF"/>
                </a:solidFill>
                <a:latin typeface="Calibri"/>
              </a:rPr>
              <a:t>BAM files and a cells × genes count matrix. In the paper, 65,462 cells and 27,973 genes before filtering.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Liu et al., Cell Stem Cell 32:479–498 (2025), STAR Methods.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count matrix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34440"/>
          <a:ext cx="5486399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32114"/>
                <a:gridCol w="870857"/>
                <a:gridCol w="870857"/>
                <a:gridCol w="870857"/>
                <a:gridCol w="870857"/>
                <a:gridCol w="870857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36576" marB="36576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Cell 1</a:t>
                      </a:r>
                    </a:p>
                  </a:txBody>
                  <a:tcPr marL="91440" marR="91440" marT="36576" marB="36576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Cell 2</a:t>
                      </a:r>
                    </a:p>
                  </a:txBody>
                  <a:tcPr marL="91440" marR="91440" marT="36576" marB="36576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Cell 3</a:t>
                      </a:r>
                    </a:p>
                  </a:txBody>
                  <a:tcPr marL="91440" marR="91440" marT="36576" marB="36576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Cell 4</a:t>
                      </a:r>
                    </a:p>
                  </a:txBody>
                  <a:tcPr marL="91440" marR="91440" marT="36576" marB="36576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Cell 5</a:t>
                      </a:r>
                    </a:p>
                  </a:txBody>
                  <a:tcPr marL="91440" marR="91440" marT="36576" marB="36576" anchor="ctr">
                    <a:solidFill>
                      <a:srgbClr val="2F4B7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222222"/>
                          </a:solidFill>
                          <a:latin typeface="Calibri"/>
                        </a:rPr>
                        <a:t>Gene A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222222"/>
                          </a:solidFill>
                          <a:latin typeface="Calibri"/>
                        </a:rPr>
                        <a:t>Gene B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222222"/>
                          </a:solidFill>
                          <a:latin typeface="Calibri"/>
                        </a:rPr>
                        <a:t>Gene C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222222"/>
                          </a:solidFill>
                          <a:latin typeface="Calibri"/>
                        </a:rPr>
                        <a:t>Gene D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222222"/>
                          </a:solidFill>
                          <a:latin typeface="Calibri"/>
                        </a:rPr>
                        <a:t>Gene E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663440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2000" b="1">
                <a:solidFill>
                  <a:srgbClr val="D40119"/>
                </a:solidFill>
                <a:latin typeface="Calibri"/>
              </a:rPr>
              <a:t>Rows</a:t>
            </a:r>
            <a:r>
              <a:rPr sz="2000" b="0">
                <a:solidFill>
                  <a:srgbClr val="222222"/>
                </a:solidFill>
                <a:latin typeface="Calibri"/>
              </a:rPr>
              <a:t> = genes (features)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2000" b="1">
                <a:solidFill>
                  <a:srgbClr val="D40119"/>
                </a:solidFill>
                <a:latin typeface="Calibri"/>
              </a:rPr>
              <a:t>Columns</a:t>
            </a:r>
            <a:r>
              <a:rPr sz="2000" b="0">
                <a:solidFill>
                  <a:srgbClr val="222222"/>
                </a:solidFill>
                <a:latin typeface="Calibri"/>
              </a:rPr>
              <a:t> = cells (barcodes)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Most entries are zero: the matrix is stored as sparse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9728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25295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MTX triplet (what GEO gives us)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82495"/>
            <a:ext cx="5074920" cy="11887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4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matrix.mtx.gz, barcodes.tsv.gz, features.tsv.gz per sample</a:t>
            </a:r>
          </a:p>
          <a:p>
            <a:pPr algn="l" marL="219456" indent="-219456">
              <a:spcAft>
                <a:spcPts val="4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e.g. PWH27D0_matrix.mtx.gz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108960"/>
            <a:ext cx="5440680" cy="15087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236976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7F79"/>
                </a:solidFill>
                <a:latin typeface="Calibri"/>
              </a:rPr>
              <a:t>HDF5 (.h5, .h5ad)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694176"/>
            <a:ext cx="5074920" cy="8229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5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One file, hierarchical, compact and fast to read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75488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882896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9AA5B1"/>
                </a:solidFill>
                <a:latin typeface="Calibri"/>
              </a:rPr>
              <a:t>CSV / TSV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5340096"/>
            <a:ext cx="50749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5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Simple, but dense: unusable for large datasets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Toy matrix for illustration. Files from GEO accession GSE241132.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192024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645920" cy="192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2331720"/>
            <a:ext cx="9052560" cy="192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The analysis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4526280"/>
            <a:ext cx="90525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F5F5F"/>
                </a:solidFill>
                <a:latin typeface="Calibri"/>
              </a:rPr>
              <a:t>One concept per step, and the choice the paper made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Overview: from counts to biology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8" name="Pentagon 7"/>
          <p:cNvSpPr/>
          <p:nvPr/>
        </p:nvSpPr>
        <p:spPr>
          <a:xfrm>
            <a:off x="457200" y="1828800"/>
            <a:ext cx="1874519" cy="1371600"/>
          </a:xfrm>
          <a:prstGeom prst="homePlat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1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F5F5F"/>
                </a:solidFill>
                <a:latin typeface="Calibri"/>
              </a:rPr>
              <a:t>genes, UMIs, % mito, doublets</a:t>
            </a:r>
          </a:p>
        </p:txBody>
      </p:sp>
      <p:sp>
        <p:nvSpPr>
          <p:cNvPr id="10" name="Pentagon 9"/>
          <p:cNvSpPr/>
          <p:nvPr/>
        </p:nvSpPr>
        <p:spPr>
          <a:xfrm>
            <a:off x="2377440" y="1828800"/>
            <a:ext cx="1874519" cy="1371600"/>
          </a:xfrm>
          <a:prstGeom prst="homePlat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2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Normalisation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33756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F5F5F"/>
                </a:solidFill>
                <a:latin typeface="Calibri"/>
              </a:rPr>
              <a:t>scaling, log, variable genes</a:t>
            </a:r>
          </a:p>
        </p:txBody>
      </p:sp>
      <p:sp>
        <p:nvSpPr>
          <p:cNvPr id="12" name="Pentagon 11"/>
          <p:cNvSpPr/>
          <p:nvPr/>
        </p:nvSpPr>
        <p:spPr>
          <a:xfrm>
            <a:off x="4297680" y="1828800"/>
            <a:ext cx="1874519" cy="1371600"/>
          </a:xfrm>
          <a:prstGeom prst="homePlat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3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PCA and batch correction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33756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F5F5F"/>
                </a:solidFill>
                <a:latin typeface="Calibri"/>
              </a:rPr>
              <a:t>denoise, align samples</a:t>
            </a:r>
          </a:p>
        </p:txBody>
      </p:sp>
      <p:sp>
        <p:nvSpPr>
          <p:cNvPr id="14" name="Pentagon 13"/>
          <p:cNvSpPr/>
          <p:nvPr/>
        </p:nvSpPr>
        <p:spPr>
          <a:xfrm>
            <a:off x="6217920" y="1828800"/>
            <a:ext cx="1874519" cy="1371600"/>
          </a:xfrm>
          <a:prstGeom prst="homePlat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4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Graph, clusters, UMAP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33756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F5F5F"/>
                </a:solidFill>
                <a:latin typeface="Calibri"/>
              </a:rPr>
              <a:t>Leiden, embedding</a:t>
            </a:r>
          </a:p>
        </p:txBody>
      </p:sp>
      <p:sp>
        <p:nvSpPr>
          <p:cNvPr id="16" name="Pentagon 15"/>
          <p:cNvSpPr/>
          <p:nvPr/>
        </p:nvSpPr>
        <p:spPr>
          <a:xfrm>
            <a:off x="8138160" y="1828800"/>
            <a:ext cx="1874519" cy="1371600"/>
          </a:xfrm>
          <a:prstGeom prst="homePlate">
            <a:avLst/>
          </a:prstGeom>
          <a:solidFill>
            <a:srgbClr val="2F4B7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5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Markers and annotation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33756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F5F5F"/>
                </a:solidFill>
                <a:latin typeface="Calibri"/>
              </a:rPr>
              <a:t>what is each cluster?</a:t>
            </a:r>
          </a:p>
        </p:txBody>
      </p:sp>
      <p:sp>
        <p:nvSpPr>
          <p:cNvPr id="18" name="Pentagon 17"/>
          <p:cNvSpPr/>
          <p:nvPr/>
        </p:nvSpPr>
        <p:spPr>
          <a:xfrm>
            <a:off x="10058400" y="1828800"/>
            <a:ext cx="1874519" cy="1371600"/>
          </a:xfrm>
          <a:prstGeom prst="homePlate">
            <a:avLst/>
          </a:prstGeom>
          <a:solidFill>
            <a:srgbClr val="2F4B7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6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Downstream analyses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333756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F5F5F"/>
                </a:solidFill>
                <a:latin typeface="Calibri"/>
              </a:rPr>
              <a:t>abundance, trajectories, 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26280"/>
            <a:ext cx="7635240" cy="45720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526280"/>
            <a:ext cx="76352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Day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4526280"/>
            <a:ext cx="3611880" cy="457200"/>
          </a:xfrm>
          <a:prstGeom prst="rect">
            <a:avLst/>
          </a:prstGeom>
          <a:solidFill>
            <a:srgbClr val="2F4B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452628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Day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03520"/>
            <a:ext cx="112928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200" b="0" i="1">
                <a:solidFill>
                  <a:srgbClr val="5F5F5F"/>
                </a:solidFill>
                <a:latin typeface="Calibri"/>
              </a:rPr>
              <a:t>Every step involves a choice. For each one we will see what the paper did and what we do in the practical.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Quality control: keep cells that are real, single and alive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6309360" cy="14630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234439"/>
            <a:ext cx="457200" cy="45720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207007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Genes per cell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645919"/>
            <a:ext cx="530352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Low: empty droplet or dying cell. Very high: possible doublet.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97480"/>
            <a:ext cx="6309360" cy="14630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2834640"/>
            <a:ext cx="457200" cy="45720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807208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UMI counts per cell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246120"/>
            <a:ext cx="530352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Low: little RNA captured, unreliable profile.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97680"/>
            <a:ext cx="6309360" cy="14630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407408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% mitochondrial reads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846320"/>
            <a:ext cx="530352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High: stressed or dying cell that lost cytoplasmic RNA.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1097280"/>
            <a:ext cx="461772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D401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11887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The paper's filters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1691640"/>
            <a:ext cx="420624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5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&lt; 500 genes: removed</a:t>
            </a:r>
          </a:p>
          <a:p>
            <a:pPr algn="l" marL="219456" indent="-219456">
              <a:spcAft>
                <a:spcPts val="5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&lt; 1,000 UMIs: removed</a:t>
            </a:r>
          </a:p>
          <a:p>
            <a:pPr algn="l" marL="219456" indent="-219456">
              <a:spcAft>
                <a:spcPts val="5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&gt; 20% mitochondrial: removed</a:t>
            </a:r>
          </a:p>
          <a:p>
            <a:pPr algn="l" marL="219456" indent="-219456">
              <a:spcAft>
                <a:spcPts val="5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Mitochondrial and haemoglobin genes removed; genes seen in &lt; 10 cells removed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88620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Calibri"/>
              </a:rPr>
              <a:t>65,462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5262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F5F5F"/>
                </a:solidFill>
                <a:latin typeface="Calibri"/>
              </a:rPr>
              <a:t>cells before QC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88620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0119"/>
                </a:solidFill>
                <a:latin typeface="Calibri"/>
              </a:rPr>
              <a:t>58,823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45262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F5F5F"/>
                </a:solidFill>
                <a:latin typeface="Calibri"/>
              </a:rPr>
              <a:t>after QC and doublets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943600"/>
            <a:ext cx="11201400" cy="41148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897880"/>
            <a:ext cx="11201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5F5F"/>
                </a:solidFill>
                <a:latin typeface="Calibri"/>
              </a:rPr>
              <a:t>Thresholds depend on the dataset and the tissue: always look at the distributions before deciding.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Liu et al., Cell Stem Cell 32:479–498 (2025), STAR Methods.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Doublets: two cells, one barcode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8" name="Oval 7"/>
          <p:cNvSpPr/>
          <p:nvPr/>
        </p:nvSpPr>
        <p:spPr>
          <a:xfrm>
            <a:off x="822960" y="1234440"/>
            <a:ext cx="1737360" cy="1737360"/>
          </a:xfrm>
          <a:prstGeom prst="ellipse">
            <a:avLst/>
          </a:prstGeom>
          <a:solidFill>
            <a:srgbClr val="FAFAFA"/>
          </a:solidFill>
          <a:ln w="38100">
            <a:solidFill>
              <a:srgbClr val="9AA5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9AA5B1"/>
                </a:solidFill>
                <a:latin typeface="Calibri"/>
              </a:rPr>
              <a:t>Empty droplet</a:t>
            </a:r>
          </a:p>
        </p:txBody>
      </p:sp>
      <p:sp>
        <p:nvSpPr>
          <p:cNvPr id="10" name="Oval 9"/>
          <p:cNvSpPr/>
          <p:nvPr/>
        </p:nvSpPr>
        <p:spPr>
          <a:xfrm>
            <a:off x="2788920" y="1234440"/>
            <a:ext cx="1737360" cy="1737360"/>
          </a:xfrm>
          <a:prstGeom prst="ellipse">
            <a:avLst/>
          </a:prstGeom>
          <a:solidFill>
            <a:srgbClr val="FAFAFA"/>
          </a:solidFill>
          <a:ln w="38100">
            <a:solidFill>
              <a:srgbClr val="1B7F7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14700" y="1737360"/>
            <a:ext cx="685800" cy="685800"/>
          </a:xfrm>
          <a:prstGeom prst="ellipse">
            <a:avLst/>
          </a:prstGeom>
          <a:solidFill>
            <a:srgbClr val="1B7F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30632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7F79"/>
                </a:solidFill>
                <a:latin typeface="Calibri"/>
              </a:rPr>
              <a:t>Single cell</a:t>
            </a:r>
          </a:p>
        </p:txBody>
      </p:sp>
      <p:sp>
        <p:nvSpPr>
          <p:cNvPr id="13" name="Oval 12"/>
          <p:cNvSpPr/>
          <p:nvPr/>
        </p:nvSpPr>
        <p:spPr>
          <a:xfrm>
            <a:off x="4754880" y="1234440"/>
            <a:ext cx="1737360" cy="1737360"/>
          </a:xfrm>
          <a:prstGeom prst="ellipse">
            <a:avLst/>
          </a:prstGeom>
          <a:solidFill>
            <a:srgbClr val="FAFAFA"/>
          </a:solidFill>
          <a:ln w="38100">
            <a:solidFill>
              <a:srgbClr val="D401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20640" y="1737360"/>
            <a:ext cx="685800" cy="685800"/>
          </a:xfrm>
          <a:prstGeom prst="ellipse">
            <a:avLst/>
          </a:prstGeom>
          <a:solidFill>
            <a:srgbClr val="1B7F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6400" y="1737360"/>
            <a:ext cx="685800" cy="685800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30632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D40119"/>
                </a:solidFill>
                <a:latin typeface="Calibri"/>
              </a:rPr>
              <a:t>Doublet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1097280"/>
            <a:ext cx="5029200" cy="2514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225295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7F79"/>
                </a:solidFill>
                <a:latin typeface="Calibri"/>
              </a:rPr>
              <a:t>Scrublet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682495"/>
            <a:ext cx="4663440" cy="18287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6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Simulates doublets by averaging random pairs of cells</a:t>
            </a:r>
          </a:p>
          <a:p>
            <a:pPr algn="l" marL="219456" indent="-219456">
              <a:spcAft>
                <a:spcPts val="6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Scores each cell by how many simulated doublets are among its neighbours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3749039"/>
            <a:ext cx="50292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3877055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In the paper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334255"/>
            <a:ext cx="4663440" cy="17373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6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Scrublet and DoubletFinder</a:t>
            </a:r>
          </a:p>
          <a:p>
            <a:pPr algn="l" marL="219456" indent="-219456">
              <a:spcAft>
                <a:spcPts val="6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Removed cells called by both tools, or in clusters with mixed markers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114800"/>
            <a:ext cx="585216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A doublet looks like an odd hybrid cell: it can create fake intermediate populations.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Expected rate grows with the number of cells loaded.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Other artefacts to keep in mind: ambient RNA and dead-cell debris.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Wolock et al., Cell Syst 8:281 (2019); McGinnis et al., Cell Syst 8:329 (2019); Liu et al. 2025.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Normalisation and variable genes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11201400" cy="11887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09728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The problem: </a:t>
            </a:r>
            <a:r>
              <a:rPr sz="2000" b="0">
                <a:solidFill>
                  <a:srgbClr val="222222"/>
                </a:solidFill>
                <a:latin typeface="Calibri"/>
              </a:rPr>
              <a:t>cells differ in sequencing depth. In donor PWH27 the median is 15,000 to 21,000 UMIs per cell, and individual cells vary far more.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14600"/>
            <a:ext cx="5486400" cy="28346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4261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B7F79"/>
                </a:solidFill>
                <a:latin typeface="Calibri"/>
              </a:rPr>
              <a:t>Log-normalisation (practical)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99816"/>
            <a:ext cx="5120640" cy="2148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Scale each cell to the same total, then take the log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1">
                <a:solidFill>
                  <a:srgbClr val="D40119"/>
                </a:solidFill>
                <a:latin typeface="Cambria"/>
              </a:rPr>
              <a:t>x′ = log(1 + 10⁴ · x / total)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Simple, fast, the scanpy default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14600"/>
            <a:ext cx="5486400" cy="28346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64261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0119"/>
                </a:solidFill>
                <a:latin typeface="Calibri"/>
              </a:rPr>
              <a:t>SCTransform (paper)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99816"/>
            <a:ext cx="5120640" cy="2148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Regularised negative-binomial regression, per gene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Regresses out mitochondrial fraction and cell cycle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Residuals replace log counts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532120"/>
            <a:ext cx="11201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Highly variable genes: </a:t>
            </a:r>
            <a:r>
              <a:rPr sz="2000" b="0">
                <a:solidFill>
                  <a:srgbClr val="222222"/>
                </a:solidFill>
                <a:latin typeface="Calibri"/>
              </a:rPr>
              <a:t>keep the genes that carry biological signal. The paper used the top 4,000; scanpy defaults to 2,000.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Hafemeister &amp; Satija, Genome Biol 20:296 (2019); Liu et al. 2025. UMI medians from GSE241132 metadata.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PCA and the neighbour graph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2560320" cy="1645920"/>
          </a:xfrm>
          <a:prstGeom prst="roundRect">
            <a:avLst>
              <a:gd name="adj" fmla="val 6000"/>
            </a:avLst>
          </a:prstGeom>
          <a:solidFill>
            <a:srgbClr val="2F4B7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Cells × genes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about 4,000 variable genes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00400" y="2057400"/>
            <a:ext cx="548640" cy="457200"/>
          </a:xfrm>
          <a:prstGeom prst="rightArrow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3716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D40119"/>
                </a:solidFill>
                <a:latin typeface="Calibri"/>
              </a:rPr>
              <a:t>PCA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1463040"/>
            <a:ext cx="2560320" cy="1645920"/>
          </a:xfrm>
          <a:prstGeom prst="roundRect">
            <a:avLst>
              <a:gd name="adj" fmla="val 6000"/>
            </a:avLst>
          </a:prstGeom>
          <a:solidFill>
            <a:srgbClr val="1B7F7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Cells × PCs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40 in the paper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583680" y="2057400"/>
            <a:ext cx="548640" cy="457200"/>
          </a:xfrm>
          <a:prstGeom prst="rightArrow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3716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D40119"/>
                </a:solidFill>
                <a:latin typeface="Calibri"/>
              </a:rPr>
              <a:t>kNN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8312497" y="1541403"/>
            <a:ext cx="231832" cy="4966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544329" y="1541403"/>
            <a:ext cx="585253" cy="85268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129582" y="1518656"/>
            <a:ext cx="283573" cy="108015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29582" y="1626671"/>
            <a:ext cx="401954" cy="37557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924245" y="1546369"/>
            <a:ext cx="388252" cy="486217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924245" y="1541403"/>
            <a:ext cx="620084" cy="491183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0712817" y="2689080"/>
            <a:ext cx="325655" cy="10205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0357938" y="2689080"/>
            <a:ext cx="680534" cy="89202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479618" y="1689979"/>
            <a:ext cx="129060" cy="46897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479618" y="1514331"/>
            <a:ext cx="420215" cy="222545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9531536" y="1664228"/>
            <a:ext cx="112384" cy="162769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9413155" y="1518656"/>
            <a:ext cx="230765" cy="308341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312497" y="1541403"/>
            <a:ext cx="231832" cy="4966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7924245" y="1546369"/>
            <a:ext cx="388252" cy="486217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465151" y="2403551"/>
            <a:ext cx="349116" cy="494599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7924245" y="2032586"/>
            <a:ext cx="540906" cy="865564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712817" y="2689080"/>
            <a:ext cx="325655" cy="10205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0357938" y="2699285"/>
            <a:ext cx="354879" cy="78997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0479618" y="1689979"/>
            <a:ext cx="129060" cy="46897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0608678" y="1514331"/>
            <a:ext cx="291155" cy="175648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8465151" y="2403551"/>
            <a:ext cx="349116" cy="494599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814267" y="1626671"/>
            <a:ext cx="315315" cy="776880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0357938" y="2699285"/>
            <a:ext cx="354879" cy="78997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9896923" y="2477166"/>
            <a:ext cx="461015" cy="301116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10608678" y="1514331"/>
            <a:ext cx="291155" cy="175648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10479618" y="1514331"/>
            <a:ext cx="420215" cy="222545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896923" y="2477166"/>
            <a:ext cx="461015" cy="301116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9643920" y="1826997"/>
            <a:ext cx="253003" cy="650169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9413155" y="1518656"/>
            <a:ext cx="118381" cy="145572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531536" y="1664228"/>
            <a:ext cx="112384" cy="162769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413155" y="1518656"/>
            <a:ext cx="118381" cy="145572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129582" y="1518656"/>
            <a:ext cx="283573" cy="108015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8425457" y="1422531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010710" y="1507799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805373" y="1913714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919600" y="2570208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60746" y="1618004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525048" y="1708125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193625" y="1427497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346279" y="2779278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593945" y="2580413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489806" y="1571107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695395" y="2284679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239066" y="2659410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780961" y="1395459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778051" y="2358294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412664" y="1545356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294283" y="1399784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02920" y="3520440"/>
            <a:ext cx="11201400" cy="26974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" y="3657600"/>
            <a:ext cx="10698480" cy="2514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100" b="1">
                <a:solidFill>
                  <a:srgbClr val="D40119"/>
                </a:solidFill>
                <a:latin typeface="Calibri"/>
              </a:rPr>
              <a:t>PCA </a:t>
            </a:r>
            <a:r>
              <a:rPr sz="2100" b="0">
                <a:solidFill>
                  <a:srgbClr val="222222"/>
                </a:solidFill>
                <a:latin typeface="Calibri"/>
              </a:rPr>
              <a:t>compresses the noisy gene space into a few dozen axes of variation.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100" b="1">
                <a:solidFill>
                  <a:srgbClr val="D40119"/>
                </a:solidFill>
                <a:latin typeface="Calibri"/>
              </a:rPr>
              <a:t>How many PCs? </a:t>
            </a:r>
            <a:r>
              <a:rPr sz="2100" b="0">
                <a:solidFill>
                  <a:srgbClr val="222222"/>
                </a:solidFill>
                <a:latin typeface="Calibri"/>
              </a:rPr>
              <a:t>look at the elbow plot; the paper used 40.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100" b="1">
                <a:solidFill>
                  <a:srgbClr val="D40119"/>
                </a:solidFill>
                <a:latin typeface="Calibri"/>
              </a:rPr>
              <a:t>kNN graph: </a:t>
            </a:r>
            <a:r>
              <a:rPr sz="2100" b="0">
                <a:solidFill>
                  <a:srgbClr val="222222"/>
                </a:solidFill>
                <a:latin typeface="Calibri"/>
              </a:rPr>
              <a:t>each cell is linked to its most similar cells. Clustering and UMAP both work on this graph.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Liu et al., Cell Stem Cell 32:479–498 (2025). Graph drawn for illustration.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Batch effects and integration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Technical differences between samples, runs or donors can separate cells more than biology does.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5669280" cy="12344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D40119"/>
                </a:solidFill>
                <a:latin typeface="Calibri"/>
              </a:rPr>
              <a:t>Harmony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14600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Iteratively corrects the PCA space (used in the paper, 40 PCs)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383280"/>
            <a:ext cx="5669280" cy="12344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B7F79"/>
                </a:solidFill>
                <a:latin typeface="Calibri"/>
              </a:rPr>
              <a:t>BBKNN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86200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Builds a batch-balanced neighbour graph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754880"/>
            <a:ext cx="5669280" cy="12344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E8833A"/>
                </a:solidFill>
                <a:latin typeface="Calibri"/>
              </a:rPr>
              <a:t>Scanorama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57800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Stitches datasets through mutual nearest neighbours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1097280"/>
            <a:ext cx="5257800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D401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123444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D40119"/>
                </a:solidFill>
                <a:latin typeface="Calibri"/>
              </a:rPr>
              <a:t>Batch is not condition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874519"/>
            <a:ext cx="4754880" cy="4206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In the paper, three donors give replicates for every time point, so correcting per sample is defensible.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In a single donor (our subset), each sample is one time point: correcting for sample can erase the very effect we want to study.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The authors also checked that pseudobulk samples cluster by healing stage, not by donor.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Korsunsky et al., Nat Methods 16:1289 (2019); Polański et al., Bioinformatics 36:964 (2020); Hie et al., Nat Biotechnol 37:685 (2019); Liu et al. 2025.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Clustering and UMAP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pic>
        <p:nvPicPr>
          <p:cNvPr id="8" name="Picture 7" descr="res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988" y="960120"/>
            <a:ext cx="10711542" cy="3749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89204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800" b="1">
                <a:solidFill>
                  <a:srgbClr val="D40119"/>
                </a:solidFill>
                <a:latin typeface="Calibri"/>
              </a:rPr>
              <a:t>Leiden </a:t>
            </a:r>
            <a:r>
              <a:rPr sz="1800" b="0">
                <a:solidFill>
                  <a:srgbClr val="222222"/>
                </a:solidFill>
                <a:latin typeface="Calibri"/>
              </a:rPr>
              <a:t>finds communities in the kNN graph and guarantees well-connected clusters (Louvain does not).</a:t>
            </a:r>
          </a:p>
          <a:p>
            <a:pPr algn="l" marL="219456" indent="-219456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800" b="1">
                <a:solidFill>
                  <a:srgbClr val="D40119"/>
                </a:solidFill>
                <a:latin typeface="Calibri"/>
              </a:rPr>
              <a:t>Resolution </a:t>
            </a:r>
            <a:r>
              <a:rPr sz="1800" b="0">
                <a:solidFill>
                  <a:srgbClr val="222222"/>
                </a:solidFill>
                <a:latin typeface="Calibri"/>
              </a:rPr>
              <a:t>sets how many clusters you get. Paper: 0.8 for 27 clusters, 0.5 for subclustering.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4892040"/>
            <a:ext cx="54406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800" b="1">
                <a:solidFill>
                  <a:srgbClr val="D40119"/>
                </a:solidFill>
                <a:latin typeface="Calibri"/>
              </a:rPr>
              <a:t>UMAP </a:t>
            </a:r>
            <a:r>
              <a:rPr sz="1800" b="0">
                <a:solidFill>
                  <a:srgbClr val="222222"/>
                </a:solidFill>
                <a:latin typeface="Calibri"/>
              </a:rPr>
              <a:t>is for visualisation: cluster sizes and distances between clusters are not quantitative.</a:t>
            </a:r>
          </a:p>
          <a:p>
            <a:pPr algn="l" marL="219456" indent="-219456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800" b="1">
                <a:solidFill>
                  <a:srgbClr val="D40119"/>
                </a:solidFill>
                <a:latin typeface="Calibri"/>
              </a:rPr>
              <a:t>Always ask: </a:t>
            </a:r>
            <a:r>
              <a:rPr sz="1800" b="0">
                <a:solidFill>
                  <a:srgbClr val="222222"/>
                </a:solidFill>
                <a:latin typeface="Calibri"/>
              </a:rPr>
              <a:t>is this cluster stable across resolutions?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Simulated data for illustration. Traag, Waltman &amp; van Eck, Sci Rep 9:5233 (2019); Liu et al. 2025.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Marker genes and cell-type annotation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097280"/>
          <a:ext cx="6583679" cy="5120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038621"/>
                <a:gridCol w="3545058"/>
              </a:tblGrid>
              <a:tr h="5120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Main cell type</a:t>
                      </a:r>
                    </a:p>
                  </a:txBody>
                  <a:tcPr marL="91440" marR="91440" marT="36576" marB="36576" anchor="ctr">
                    <a:solidFill>
                      <a:srgbClr val="D401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Markers used in the paper</a:t>
                      </a:r>
                    </a:p>
                  </a:txBody>
                  <a:tcPr marL="91440" marR="91440" marT="36576" marB="36576" anchor="ctr">
                    <a:solidFill>
                      <a:srgbClr val="D4011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</a:rPr>
                        <a:t>Keratinocytes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KRT5 (high) or KRT10 (high)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</a:rPr>
                        <a:t>Fibroblasts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COL1A1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</a:rPr>
                        <a:t>Myeloid cells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LYZ, HLA-DRA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</a:rPr>
                        <a:t>Lymphoid cells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CD3D, NKG7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</a:rPr>
                        <a:t>Endothelial cells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PECAM1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</a:rPr>
                        <a:t>Mast cells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TPSAB1, TPSB2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</a:rPr>
                        <a:t>Pericytes, smooth muscle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ACTA2, MYH11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</a:rPr>
                        <a:t>Melanocytes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TYRP1, PMEL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</a:rPr>
                        <a:t>Schwann cells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SOX10, SOX2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60920" y="1097280"/>
            <a:ext cx="4343400" cy="49377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225295"/>
            <a:ext cx="3977639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0119"/>
                </a:solidFill>
                <a:latin typeface="Calibri"/>
              </a:rPr>
              <a:t>How to annotate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682495"/>
            <a:ext cx="3977639" cy="4251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1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Find the genes that distinguish each cluster</a:t>
            </a:r>
          </a:p>
          <a:p>
            <a:pPr algn="l" marL="219456" indent="-219456">
              <a:spcAft>
                <a:spcPts val="11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Paper: Seurat FindAllMarkers with the MAST test</a:t>
            </a:r>
          </a:p>
          <a:p>
            <a:pPr algn="l" marL="219456" indent="-219456">
              <a:spcAft>
                <a:spcPts val="11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Practical: scanpy rank_genes_groups (Wilcoxon)</a:t>
            </a:r>
          </a:p>
          <a:p>
            <a:pPr algn="l" marL="219456" indent="-219456">
              <a:spcAft>
                <a:spcPts val="11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Match markers to known biology, then compare with the authors' labels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Liu et al., Cell Stem Cell 32:479–498 (2025).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Differential abundance: who is more (or less) frequent?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280160"/>
          <a:ext cx="63093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960120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Migrating keratinocytes (Bas-mig + Spi-mig), % of all cells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1097280"/>
            <a:ext cx="4617720" cy="50749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1225295"/>
            <a:ext cx="4251959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D40119"/>
                </a:solidFill>
                <a:latin typeface="Calibri"/>
              </a:rPr>
              <a:t>Reading the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682495"/>
            <a:ext cx="4251959" cy="4389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The wave of migrating keratinocytes peaks at Wound1, as in the paper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Proportions are compositional: if one population grows, others shrink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Cells are not replicates, donors are: test with sample-level replication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Milo (used in the paper) tests neighbourhoods of the kNN graph instead of fixed clusters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Computed from GSE241132 metadata (newCellTypes). Dann et al., Nat Biotechnol 40:245 (2022); Liu et al. 2025.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Trajectories: ordering cells along a process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371600" cy="640080"/>
          </a:xfrm>
          <a:prstGeom prst="roundRect">
            <a:avLst>
              <a:gd name="adj" fmla="val 30000"/>
            </a:avLst>
          </a:prstGeom>
          <a:solidFill>
            <a:srgbClr val="1B7F7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Bas-I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828800"/>
            <a:ext cx="1371600" cy="640080"/>
          </a:xfrm>
          <a:prstGeom prst="roundRect">
            <a:avLst>
              <a:gd name="adj" fmla="val 30000"/>
            </a:avLst>
          </a:prstGeom>
          <a:solidFill>
            <a:srgbClr val="1B7F7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Spi-I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828800"/>
            <a:ext cx="1371600" cy="640080"/>
          </a:xfrm>
          <a:prstGeom prst="roundRect">
            <a:avLst>
              <a:gd name="adj" fmla="val 30000"/>
            </a:avLst>
          </a:prstGeom>
          <a:solidFill>
            <a:srgbClr val="1B7F7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Spi-II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828800"/>
            <a:ext cx="1371600" cy="640080"/>
          </a:xfrm>
          <a:prstGeom prst="roundRect">
            <a:avLst>
              <a:gd name="adj" fmla="val 30000"/>
            </a:avLst>
          </a:prstGeom>
          <a:solidFill>
            <a:srgbClr val="1B7F7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Gra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965960" y="1984248"/>
            <a:ext cx="320040" cy="292608"/>
          </a:xfrm>
          <a:prstGeom prst="rightArrow">
            <a:avLst/>
          </a:prstGeom>
          <a:solidFill>
            <a:srgbClr val="B0B0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3749039" y="1984248"/>
            <a:ext cx="320040" cy="292608"/>
          </a:xfrm>
          <a:prstGeom prst="rightArrow">
            <a:avLst/>
          </a:prstGeom>
          <a:solidFill>
            <a:srgbClr val="B0B0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5532120" y="1984248"/>
            <a:ext cx="320040" cy="292608"/>
          </a:xfrm>
          <a:prstGeom prst="rightArrow">
            <a:avLst/>
          </a:prstGeom>
          <a:solidFill>
            <a:srgbClr val="B0B0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31720" y="3246120"/>
            <a:ext cx="1371600" cy="640080"/>
          </a:xfrm>
          <a:prstGeom prst="roundRect">
            <a:avLst>
              <a:gd name="adj" fmla="val 30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Bas-mig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3246120"/>
            <a:ext cx="1371600" cy="640080"/>
          </a:xfrm>
          <a:prstGeom prst="roundRect">
            <a:avLst>
              <a:gd name="adj" fmla="val 30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Spi-mig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234440" y="2423160"/>
            <a:ext cx="1783080" cy="822960"/>
          </a:xfrm>
          <a:prstGeom prst="line">
            <a:avLst/>
          </a:prstGeom>
          <a:ln w="38100">
            <a:solidFill>
              <a:srgbClr val="D40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800600" y="2423160"/>
            <a:ext cx="1783080" cy="822960"/>
          </a:xfrm>
          <a:prstGeom prst="line">
            <a:avLst/>
          </a:prstGeom>
          <a:ln w="38100">
            <a:solidFill>
              <a:srgbClr val="D40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118872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7F79"/>
                </a:solidFill>
                <a:latin typeface="Calibri"/>
              </a:rPr>
              <a:t>Differentiation (all keratinocytes)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77639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Wound-specific branches (KRT6A+ cells)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1097280"/>
            <a:ext cx="3840480" cy="50749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1225295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0119"/>
                </a:solidFill>
                <a:latin typeface="Calibri"/>
              </a:rPr>
              <a:t>Pseudotime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1682495"/>
            <a:ext cx="3474720" cy="4389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Orders cells along a continuous process, from a chosen root</a:t>
            </a:r>
          </a:p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Paper: Monocle3, root in Bas-I; driver genes by Moran's I</a:t>
            </a:r>
          </a:p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Practical: diffusion pseudotime or PAGA in scanpy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704088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5F5F5F"/>
                </a:solidFill>
                <a:latin typeface="Calibri"/>
              </a:rPr>
              <a:t>Simplified from the paper: keratinocytes split into wound and non-wound cells with a Gaussian mixture model on KRT6A.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Cao et al., Nature 566:496 (2019); Wolf et al., Genome Biol 20:59 (2019); Liu et al. 2025.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Beyond the basics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801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D40119"/>
                </a:solidFill>
                <a:latin typeface="Calibri"/>
              </a:rPr>
              <a:t>Cell–cell communication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493776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Ligand–receptor inference: MultiNicheNet, CellChat in the paper; LIANA, squidpy in Python. Found EGFR ligands and CXCL1 in migration.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801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B7F79"/>
                </a:solidFill>
                <a:latin typeface="Calibri"/>
              </a:rPr>
              <a:t>Gene regulatory networks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19"/>
            <a:ext cx="493776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pySCENIC and CellOracle: FOSL1 knock-out and overexpression simulated in silico.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03320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8833A"/>
                </a:solidFill>
                <a:latin typeface="Calibri"/>
              </a:rPr>
              <a:t>RNA velocity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80559"/>
            <a:ext cx="493776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CellRank and scVelo: direction of fibroblast trajectories from spliced and unspliced reads.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03320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8862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F4B7C"/>
                </a:solidFill>
                <a:latin typeface="Calibri"/>
              </a:rPr>
              <a:t>Spatial transcriptomics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480559"/>
            <a:ext cx="493776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Cell2location maps the scRNA-seq cell types onto Visium spots: the companion dataset of this study.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Liu et al., Cell Stem Cell 32:479–498 (2025).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192024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645920" cy="192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2331720"/>
            <a:ext cx="9052560" cy="192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Tools and practicals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4526280"/>
            <a:ext cx="90525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F5F5F"/>
                </a:solidFill>
                <a:latin typeface="Calibri"/>
              </a:rPr>
              <a:t>scanpy, AnnData and the dataset we will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scanpy: single-cell analysis in Python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4206240" cy="192024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image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14283"/>
            <a:ext cx="3840480" cy="16862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3246120"/>
            <a:ext cx="4206240" cy="2926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A scalable Python library for single-cell data analysis</a:t>
            </a:r>
          </a:p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Efficient for large datasets</a:t>
            </a:r>
          </a:p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Part of the scverse ecosystem, very well documented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097280"/>
            <a:ext cx="3200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0" y="1097280"/>
            <a:ext cx="3200400" cy="594360"/>
          </a:xfrm>
          <a:prstGeom prst="roundRect">
            <a:avLst>
              <a:gd name="adj" fmla="val 6000"/>
            </a:avLst>
          </a:prstGeom>
          <a:solidFill>
            <a:srgbClr val="1B7F7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I/O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828800"/>
            <a:ext cx="283464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ourier New"/>
              </a:rPr>
              <a:t>read_10x_mtx, read_10x_h5, read_h5ad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097280"/>
            <a:ext cx="3200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0" y="1097280"/>
            <a:ext cx="3200400" cy="594360"/>
          </a:xfrm>
          <a:prstGeom prst="roundRect">
            <a:avLst>
              <a:gd name="adj" fmla="val 6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Preprocessing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9" y="1828800"/>
            <a:ext cx="283464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ourier New"/>
              </a:rPr>
              <a:t>filter_cells, filter_genes, normalize_total, log1p, highly_variable_genes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703320"/>
            <a:ext cx="3200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0" y="3703320"/>
            <a:ext cx="3200400" cy="594360"/>
          </a:xfrm>
          <a:prstGeom prst="roundRect">
            <a:avLst>
              <a:gd name="adj" fmla="val 6000"/>
            </a:avLst>
          </a:prstGeom>
          <a:solidFill>
            <a:srgbClr val="E8833A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434840"/>
            <a:ext cx="283464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ourier New"/>
              </a:rPr>
              <a:t>pca, neighbors, umap, leiden, rank_genes_groups, dpt, paga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3703320"/>
            <a:ext cx="3200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0" y="3703320"/>
            <a:ext cx="3200400" cy="594360"/>
          </a:xfrm>
          <a:prstGeom prst="roundRect">
            <a:avLst>
              <a:gd name="adj" fmla="val 6000"/>
            </a:avLst>
          </a:prstGeom>
          <a:solidFill>
            <a:srgbClr val="2F4B7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Plotting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59" y="4434840"/>
            <a:ext cx="283464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ourier New"/>
              </a:rPr>
              <a:t>umap, scatter, violin, dotplot, heatmap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Wolf, Angerer &amp; Theis, Genome Biol 19:15 (2018). Guides: sc-best-practices.org (Heumos et al., Nat Rev Genet 24:550, 2023).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AnnData: the data structure behind scanpy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8" name="Rectangle 7"/>
          <p:cNvSpPr/>
          <p:nvPr/>
        </p:nvSpPr>
        <p:spPr>
          <a:xfrm>
            <a:off x="2743200" y="2103120"/>
            <a:ext cx="3291840" cy="2651760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X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cells × genes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counts, normalised values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2103120" cy="265176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obs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cell metadata: sample, time point, n_genes, cluster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097280"/>
            <a:ext cx="3291840" cy="86868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var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gene metadata: symbol, highly variable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103120"/>
            <a:ext cx="1920240" cy="2651760"/>
          </a:xfrm>
          <a:prstGeom prst="rect">
            <a:avLst/>
          </a:prstGeom>
          <a:solidFill>
            <a:srgbClr val="8E5EA2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obsm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PCA and UMAP coordinates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4892040"/>
            <a:ext cx="3291840" cy="868680"/>
          </a:xfrm>
          <a:prstGeom prst="rect">
            <a:avLst/>
          </a:prstGeom>
          <a:solidFill>
            <a:srgbClr val="2F4B7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layers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raw counts, other normalisations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4892040"/>
            <a:ext cx="1920240" cy="868680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uns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results, colours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188720"/>
            <a:ext cx="3200400" cy="4846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Memory-efficient: sparse matrices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Data and metadata travel together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Saved as .h5ad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Shared by many tools (scanpy, squidpy, scvi-tools)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Virshup et al., J Open Source Softw 9:4371 (2024).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dataset for our practicals: donor PWH27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371600"/>
          <a:ext cx="58521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100584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/>
              </a:rPr>
              <a:t>Cells per sample (22,227 in total)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097280"/>
            <a:ext cx="5074920" cy="50749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225295"/>
            <a:ext cx="4709159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0119"/>
                </a:solidFill>
                <a:latin typeface="Calibri"/>
              </a:rPr>
              <a:t>Why this subset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682495"/>
            <a:ext cx="4709159" cy="4389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4 samples, 22,227 cells: runs on a laptop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Same individual across the whole healing time course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Public matrices on GEO (GSE241132), one archive per sample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The authors' annotation is available to check our own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Cell counts from GSE241132 cell metadata.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the paper's pipeline to our practical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051560"/>
          <a:ext cx="11201398" cy="5029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57082"/>
                <a:gridCol w="4722158"/>
                <a:gridCol w="4722158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91440" marR="91440" marT="36576" marB="36576" anchor="ctr">
                    <a:solidFill>
                      <a:srgbClr val="D401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Paper (R, Seurat)</a:t>
                      </a:r>
                    </a:p>
                  </a:txBody>
                  <a:tcPr marL="91440" marR="91440" marT="36576" marB="36576" anchor="ctr">
                    <a:solidFill>
                      <a:srgbClr val="D401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Practical (Python, scanpy)</a:t>
                      </a:r>
                    </a:p>
                  </a:txBody>
                  <a:tcPr marL="91440" marR="91440" marT="36576" marB="36576" anchor="ctr">
                    <a:solidFill>
                      <a:srgbClr val="D4011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Calibri"/>
                        </a:rPr>
                        <a:t>Counts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CellRanger 5.0.1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Provided (GEO matrices)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Calibri"/>
                        </a:rPr>
                        <a:t>QC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&lt; 500 genes, &lt; 1,000 UMIs, &gt; 20% mito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Same thresholds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Calibri"/>
                        </a:rPr>
                        <a:t>Doublets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Scrublet + DoubletFinder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Scrublet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Calibri"/>
                        </a:rPr>
                        <a:t>Normalisation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SCTransform, 4,000 HVGs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Log-normalisation, HVGs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Calibri"/>
                        </a:rPr>
                        <a:t>Batch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Harmony, 40 PCs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Harmony, BBKNN, Scanorama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Calibri"/>
                        </a:rPr>
                        <a:t>Clustering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Louvain, resolution 0.8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Leiden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Calibri"/>
                        </a:rPr>
                        <a:t>Markers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FindAllMarkers (MAST)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rank_genes_groups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Calibri"/>
                        </a:rPr>
                        <a:t>Abundance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Milo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Proportions per time point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Calibri"/>
                        </a:rPr>
                        <a:t>Trajectory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Monocle3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Diffusion pseudotime, PAGA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Practical column: planned content, to be adjusted with the notebooks. Paper column: Liu et al., STAR Methods.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Setting up the computational environment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8" name="Rounded Rectangle 7"/>
          <p:cNvSpPr/>
          <p:nvPr/>
        </p:nvSpPr>
        <p:spPr>
          <a:xfrm>
            <a:off x="502920" y="1188720"/>
            <a:ext cx="6675120" cy="210312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6309359" cy="18287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6A9955"/>
                </a:solidFill>
                <a:latin typeface="Courier New"/>
              </a:rPr>
              <a:t># create and activate the course environment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E6E6E6"/>
                </a:solidFill>
                <a:latin typeface="Courier New"/>
              </a:rPr>
              <a:t>mamba env create -f environment.yml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E6E6E6"/>
                </a:solidFill>
                <a:latin typeface="Courier New"/>
              </a:rPr>
              <a:t>mamba activate skinwound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E6E6E6"/>
                </a:solidFill>
                <a:latin typeface="Courier New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6A9955"/>
                </a:solidFill>
                <a:latin typeface="Courier New"/>
              </a:rPr>
              <a:t># check that scanpy works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E6E6E6"/>
                </a:solidFill>
                <a:latin typeface="Courier New"/>
              </a:rPr>
              <a:t>python -c "import scanpy; print(scanpy.__version__)"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097280"/>
            <a:ext cx="4251960" cy="2286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225295"/>
            <a:ext cx="38862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B7F79"/>
                </a:solidFill>
                <a:latin typeface="Calibri"/>
              </a:rPr>
              <a:t>In the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682495"/>
            <a:ext cx="3886200" cy="16001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4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Python 3.11</a:t>
            </a:r>
          </a:p>
          <a:p>
            <a:pPr algn="l" marL="219456" indent="-219456">
              <a:spcAft>
                <a:spcPts val="4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scanpy, anndata, leidenalg</a:t>
            </a:r>
          </a:p>
          <a:p>
            <a:pPr algn="l" marL="219456" indent="-219456">
              <a:spcAft>
                <a:spcPts val="4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harmonypy, bbknn, scanorama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11880"/>
            <a:ext cx="5486400" cy="25603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73989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0119"/>
                </a:solidFill>
                <a:latin typeface="Calibri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97096"/>
            <a:ext cx="5120640" cy="18745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Public matrices from GEO: GSE241132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Or the copy on the course server: path given by the instructor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611880"/>
            <a:ext cx="5486400" cy="25603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73989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F4B7C"/>
                </a:solidFill>
                <a:latin typeface="Calibri"/>
              </a:rPr>
              <a:t>Notebooks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197096"/>
            <a:ext cx="5120640" cy="18745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One notebook per module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Run cells in order; restart the kernel if something looks wrong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Details in the repository README (environment.yml). Adjust if the course runs on the shared server.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Take-home messages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8" name="Oval 7"/>
          <p:cNvSpPr/>
          <p:nvPr/>
        </p:nvSpPr>
        <p:spPr>
          <a:xfrm>
            <a:off x="594360" y="1170432"/>
            <a:ext cx="640080" cy="64008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097280"/>
            <a:ext cx="1014984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Single-cell resolves cell types and states that bulk averages hide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176272"/>
            <a:ext cx="640080" cy="64008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03120"/>
            <a:ext cx="1014984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Every step before the count matrix (dissociation, capture, depth) shapes what we can see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182112"/>
            <a:ext cx="640080" cy="64008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108960"/>
            <a:ext cx="1014984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The workflow is a chain of choices: QC, normalisation, correction, resolution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4187952"/>
            <a:ext cx="640080" cy="64008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114800"/>
            <a:ext cx="1014984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Never correct for a variable that is confounded with the biology you study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5193792"/>
            <a:ext cx="640080" cy="64008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5120640"/>
            <a:ext cx="1014984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Annotation and statistics need biological knowledge, and replicates that are donors, not cells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References (1/2)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11201400" cy="5212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Liu Z. et al. Spatiotemporal single-cell roadmap of human skin wound healing. Cell Stem Cell 32, 479–498 (2025). doi:10.1016/j.stem.2024.11.013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Svensson V., Vento-Tormo R., Teichmann S.A. Exponential scaling of single-cell RNA-seq in the past decade. Nat Protoc 13, 599–604 (2018).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Aldridge S., Teichmann S.A. Single cell transcriptomics comes of age. Nat Commun 11, 4307 (2020).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Chen G., Ning B., Shi T. Single-cell RNA-seq technologies and related computational data analysis. Front Genet 10, 317 (2019).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Ren et al. Scientific Data (2023). [reference to be verified]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Wolock S.L., Lopez R., Klein A.M. Scrublet. Cell Syst 8, 281–291 (2019).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McGinnis C.S., Murrow L.M., Gartner Z.J. DoubletFinder. Cell Syst 8, 329–337 (2019).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Hafemeister C., Satija R. Normalization and variance stabilization of single-cell RNA-seq data using regularized negative binomial regression. Genome Biol 20, 296 (2019).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82;p7">
            <a:extLst>
              <a:ext uri="{FF2B5EF4-FFF2-40B4-BE49-F238E27FC236}">
                <a16:creationId xmlns:a16="http://schemas.microsoft.com/office/drawing/2014/main" id="{C65F9E16-2665-549D-662C-711530B539B8}"/>
              </a:ext>
            </a:extLst>
          </p:cNvPr>
          <p:cNvSpPr/>
          <p:nvPr/>
        </p:nvSpPr>
        <p:spPr>
          <a:xfrm>
            <a:off x="5080" y="10160"/>
            <a:ext cx="12100560" cy="629920"/>
          </a:xfrm>
          <a:prstGeom prst="rect">
            <a:avLst/>
          </a:prstGeom>
          <a:gradFill>
            <a:gsLst>
              <a:gs pos="0">
                <a:schemeClr val="lt1"/>
              </a:gs>
              <a:gs pos="36000">
                <a:srgbClr val="D40119"/>
              </a:gs>
              <a:gs pos="100000">
                <a:srgbClr val="D40119"/>
              </a:gs>
            </a:gsLst>
            <a:lin ang="108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3;p7">
            <a:extLst>
              <a:ext uri="{FF2B5EF4-FFF2-40B4-BE49-F238E27FC236}">
                <a16:creationId xmlns:a16="http://schemas.microsoft.com/office/drawing/2014/main" id="{58EA44C5-F6D7-5306-5154-CA17F3F932C4}"/>
              </a:ext>
            </a:extLst>
          </p:cNvPr>
          <p:cNvSpPr txBox="1"/>
          <p:nvPr/>
        </p:nvSpPr>
        <p:spPr>
          <a:xfrm>
            <a:off x="126998" y="94287"/>
            <a:ext cx="109426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References (2/2)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11201400" cy="5212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Korsunsky I. et al. Fast, sensitive and accurate integration of single-cell data with Harmony. Nat Methods 16, 1289–1296 (2019).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Polański K. et al. BBKNN: fast batch alignment of single cell transcriptomes. Bioinformatics 36, 964–965 (2020).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Hie B., Bryson B., Berger B. Efficient integration of heterogeneous single-cell transcriptomes using Scanorama. Nat Biotechnol 37, 685–691 (2019).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Traag V.A., Waltman L., van Eck N.J. From Louvain to Leiden: guaranteeing well-connected communities. Sci Rep 9, 5233 (2019).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Dann E. et al. Differential abundance testing on single-cell data using k-nearest neighbor graphs. Nat Biotechnol 40, 245–253 (2022).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Cao J. et al. The single-cell transcriptional landscape of mammalian organogenesis. Nature 566, 496–502 (2019).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Wolf F.A., Angerer P., Theis F.J. SCANPY: large-scale single-cell gene expression data analysis. Genome Biol 19, 15 (2018).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Wolf F.A. et al. PAGA: graph abstraction reconciles clustering with trajectory inference. Genome Biol 20, 59 (2019).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Heumos L. et al. Best practices for single-cell analysis across modalities. Nat Rev Genet 24, 550–572 (2023).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Virshup I. et al. anndata: access and store annotated data matrices. J Open Source Softw 9, 4371 (2024).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21912</TotalTime>
  <Words>33</Words>
  <Application>Microsoft Macintosh PowerPoint</Application>
  <PresentationFormat>Widescreen</PresentationFormat>
  <Paragraphs>12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Sergio Sarnataro</dc:creator>
  <cp:lastModifiedBy>Sergio Sarnataro</cp:lastModifiedBy>
  <cp:revision>28</cp:revision>
  <dcterms:created xsi:type="dcterms:W3CDTF">2025-09-26T13:15:49Z</dcterms:created>
  <dcterms:modified xsi:type="dcterms:W3CDTF">2026-09-29T13:03:54Z</dcterms:modified>
</cp:coreProperties>
</file>